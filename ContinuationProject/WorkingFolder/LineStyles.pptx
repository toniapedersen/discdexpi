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78" r:id="rId2"/>
    <p:sldId id="383" r:id="rId3"/>
    <p:sldId id="384" r:id="rId4"/>
  </p:sldIdLst>
  <p:sldSz cx="9144000" cy="5143500" type="screen16x9"/>
  <p:notesSz cx="6858000" cy="9144000"/>
  <p:custDataLst>
    <p:tags r:id="rId6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1" name="Author" initials="A" lastIdx="0" clrIdx="1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D1"/>
    <a:srgbClr val="DD2222"/>
    <a:srgbClr val="3C3C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247" autoAdjust="0"/>
  </p:normalViewPr>
  <p:slideViewPr>
    <p:cSldViewPr snapToGrid="0">
      <p:cViewPr varScale="1">
        <p:scale>
          <a:sx n="146" d="100"/>
          <a:sy n="146" d="100"/>
        </p:scale>
        <p:origin x="576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gs" Target="tags/tag1.xml"/><Relationship Id="rId11" Type="http://schemas.openxmlformats.org/officeDocument/2006/relationships/tableStyles" Target="tableStyles.xml"/><Relationship Id="rId5" Type="http://schemas.openxmlformats.org/officeDocument/2006/relationships/notesMaster" Target="notesMasters/notesMaster1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charset="0"/>
                <a:cs typeface="Arial" charset="0"/>
              </a:defRPr>
            </a:lvl1pPr>
          </a:lstStyle>
          <a:p>
            <a:fld id="{4AA9FAFC-2319-504C-A7E6-C27BB7BBEBBC}" type="datetimeFigureOut">
              <a:rPr lang="mr-IN"/>
              <a:pPr/>
              <a:t>17-10-2025</a:t>
            </a:fld>
            <a:endParaRPr lang="mr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charset="0"/>
              </a:defRPr>
            </a:lvl1pPr>
          </a:lstStyle>
          <a:p>
            <a:fld id="{8E2C8280-5F62-3D48-BBB9-576BF0EE92F4}" type="slidenum">
              <a:rPr lang="uk-UA"/>
              <a:pPr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6688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9" name="Freeform 28"/>
          <p:cNvSpPr/>
          <p:nvPr userDrawn="1"/>
        </p:nvSpPr>
        <p:spPr>
          <a:xfrm flipV="1">
            <a:off x="0" y="1200150"/>
            <a:ext cx="7385194" cy="2667000"/>
          </a:xfrm>
          <a:custGeom>
            <a:avLst/>
            <a:gdLst>
              <a:gd name="connsiteX0" fmla="*/ 0 w 7385194"/>
              <a:gd name="connsiteY0" fmla="*/ 2667000 h 2667000"/>
              <a:gd name="connsiteX1" fmla="*/ 7385194 w 7385194"/>
              <a:gd name="connsiteY1" fmla="*/ 2667000 h 2667000"/>
              <a:gd name="connsiteX2" fmla="*/ 6285274 w 7385194"/>
              <a:gd name="connsiteY2" fmla="*/ 0 h 2667000"/>
              <a:gd name="connsiteX3" fmla="*/ 0 w 7385194"/>
              <a:gd name="connsiteY3" fmla="*/ 0 h 2667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85194" h="2667000">
                <a:moveTo>
                  <a:pt x="0" y="2667000"/>
                </a:moveTo>
                <a:lnTo>
                  <a:pt x="7385194" y="2667000"/>
                </a:lnTo>
                <a:lnTo>
                  <a:pt x="6285274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200" y="1657350"/>
            <a:ext cx="6400800" cy="685800"/>
          </a:xfrm>
        </p:spPr>
        <p:txBody>
          <a:bodyPr anchor="t"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Title slide option A: </a:t>
            </a:r>
            <a:br>
              <a:rPr lang="en-US"/>
            </a:br>
            <a:r>
              <a:rPr lang="en-US"/>
              <a:t>Main title can extend over one or two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47950"/>
            <a:ext cx="60960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Presenter Name</a:t>
            </a:r>
          </a:p>
        </p:txBody>
      </p:sp>
      <p:sp>
        <p:nvSpPr>
          <p:cNvPr id="39" name="Text Placeholder 38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952750"/>
            <a:ext cx="6096000" cy="2286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Presenter Title | @</a:t>
            </a:r>
            <a:r>
              <a:rPr lang="en-US" err="1"/>
              <a:t>socialmedia</a:t>
            </a:r>
            <a:endParaRPr lang="en-US"/>
          </a:p>
        </p:txBody>
      </p:sp>
      <p:sp>
        <p:nvSpPr>
          <p:cNvPr id="9" name="TextBox 8"/>
          <p:cNvSpPr txBox="1"/>
          <p:nvPr userDrawn="1"/>
        </p:nvSpPr>
        <p:spPr>
          <a:xfrm>
            <a:off x="152400" y="4857750"/>
            <a:ext cx="1295400" cy="152400"/>
          </a:xfrm>
          <a:prstGeom prst="rect">
            <a:avLst/>
          </a:prstGeom>
          <a:noFill/>
        </p:spPr>
        <p:txBody>
          <a:bodyPr wrap="none" lIns="0" tIns="0" rIns="0" bIns="0" rtlCol="0" anchor="b">
            <a:noAutofit/>
          </a:bodyPr>
          <a:lstStyle/>
          <a:p>
            <a:pPr>
              <a:lnSpc>
                <a:spcPct val="90000"/>
              </a:lnSpc>
            </a:pPr>
            <a:r>
              <a:rPr lang="sk-SK" sz="700">
                <a:solidFill>
                  <a:schemeClr val="bg2"/>
                </a:solidFill>
              </a:rPr>
              <a:t>© 2018 Autodesk, Inc.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D8C078B-CBDA-4DD0-868B-C6493C57777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6914" y="4171950"/>
            <a:ext cx="3643208" cy="69189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2101905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Freeform 9"/>
          <p:cNvSpPr/>
          <p:nvPr userDrawn="1"/>
        </p:nvSpPr>
        <p:spPr>
          <a:xfrm flipV="1">
            <a:off x="0" y="1200150"/>
            <a:ext cx="7385194" cy="2667000"/>
          </a:xfrm>
          <a:custGeom>
            <a:avLst/>
            <a:gdLst>
              <a:gd name="connsiteX0" fmla="*/ 0 w 7385194"/>
              <a:gd name="connsiteY0" fmla="*/ 2667000 h 2667000"/>
              <a:gd name="connsiteX1" fmla="*/ 7385194 w 7385194"/>
              <a:gd name="connsiteY1" fmla="*/ 2667000 h 2667000"/>
              <a:gd name="connsiteX2" fmla="*/ 6285274 w 7385194"/>
              <a:gd name="connsiteY2" fmla="*/ 0 h 2667000"/>
              <a:gd name="connsiteX3" fmla="*/ 0 w 7385194"/>
              <a:gd name="connsiteY3" fmla="*/ 0 h 2667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85194" h="2667000">
                <a:moveTo>
                  <a:pt x="0" y="2667000"/>
                </a:moveTo>
                <a:lnTo>
                  <a:pt x="7385194" y="2667000"/>
                </a:lnTo>
                <a:lnTo>
                  <a:pt x="6285274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2114550"/>
            <a:ext cx="6248400" cy="685800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2400" dirty="0">
                <a:solidFill>
                  <a:schemeClr val="tx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/>
              <a:t>Section/chapter title slide option A:</a:t>
            </a:r>
            <a:br>
              <a:rPr lang="en-US"/>
            </a:br>
            <a:r>
              <a:rPr lang="en-US"/>
              <a:t>Title can extend over one or two lines</a:t>
            </a:r>
          </a:p>
        </p:txBody>
      </p:sp>
    </p:spTree>
    <p:extLst>
      <p:ext uri="{BB962C8B-B14F-4D97-AF65-F5344CB8AC3E}">
        <p14:creationId xmlns:p14="http://schemas.microsoft.com/office/powerpoint/2010/main" val="1780675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Freeform 7"/>
          <p:cNvSpPr/>
          <p:nvPr userDrawn="1"/>
        </p:nvSpPr>
        <p:spPr>
          <a:xfrm flipV="1">
            <a:off x="0" y="0"/>
            <a:ext cx="7880158" cy="5143500"/>
          </a:xfrm>
          <a:custGeom>
            <a:avLst/>
            <a:gdLst>
              <a:gd name="connsiteX0" fmla="*/ 0 w 7880158"/>
              <a:gd name="connsiteY0" fmla="*/ 5143500 h 5143500"/>
              <a:gd name="connsiteX1" fmla="*/ 7880158 w 7880158"/>
              <a:gd name="connsiteY1" fmla="*/ 5143500 h 5143500"/>
              <a:gd name="connsiteX2" fmla="*/ 5758883 w 7880158"/>
              <a:gd name="connsiteY2" fmla="*/ 0 h 5143500"/>
              <a:gd name="connsiteX3" fmla="*/ 0 w 7880158"/>
              <a:gd name="connsiteY3" fmla="*/ 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0158" h="5143500">
                <a:moveTo>
                  <a:pt x="0" y="5143500"/>
                </a:moveTo>
                <a:lnTo>
                  <a:pt x="7880158" y="5143500"/>
                </a:lnTo>
                <a:lnTo>
                  <a:pt x="5758883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200" y="1657350"/>
            <a:ext cx="6400800" cy="685800"/>
          </a:xfrm>
        </p:spPr>
        <p:txBody>
          <a:bodyPr anchor="t"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Title slide option B: </a:t>
            </a:r>
            <a:br>
              <a:rPr lang="en-US"/>
            </a:br>
            <a:r>
              <a:rPr lang="en-US"/>
              <a:t>Main title can extend over one or two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47950"/>
            <a:ext cx="60960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Presenter Name</a:t>
            </a:r>
          </a:p>
        </p:txBody>
      </p:sp>
      <p:sp>
        <p:nvSpPr>
          <p:cNvPr id="39" name="Text Placeholder 38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952750"/>
            <a:ext cx="6096000" cy="2286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Presenter Title | @</a:t>
            </a:r>
            <a:r>
              <a:rPr lang="en-US" err="1"/>
              <a:t>socialmedia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0A0EE0-C819-4AE9-9DD6-46B7A6F530E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09706"/>
            <a:ext cx="3643208" cy="6918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Freeform 4"/>
          <p:cNvSpPr/>
          <p:nvPr userDrawn="1"/>
        </p:nvSpPr>
        <p:spPr>
          <a:xfrm flipV="1">
            <a:off x="0" y="0"/>
            <a:ext cx="7880158" cy="5143500"/>
          </a:xfrm>
          <a:custGeom>
            <a:avLst/>
            <a:gdLst>
              <a:gd name="connsiteX0" fmla="*/ 0 w 7880158"/>
              <a:gd name="connsiteY0" fmla="*/ 5143500 h 5143500"/>
              <a:gd name="connsiteX1" fmla="*/ 7880158 w 7880158"/>
              <a:gd name="connsiteY1" fmla="*/ 5143500 h 5143500"/>
              <a:gd name="connsiteX2" fmla="*/ 5758883 w 7880158"/>
              <a:gd name="connsiteY2" fmla="*/ 0 h 5143500"/>
              <a:gd name="connsiteX3" fmla="*/ 0 w 7880158"/>
              <a:gd name="connsiteY3" fmla="*/ 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0158" h="5143500">
                <a:moveTo>
                  <a:pt x="0" y="5143500"/>
                </a:moveTo>
                <a:lnTo>
                  <a:pt x="7880158" y="5143500"/>
                </a:lnTo>
                <a:lnTo>
                  <a:pt x="5758883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2114550"/>
            <a:ext cx="6248400" cy="685800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2400" dirty="0">
                <a:solidFill>
                  <a:schemeClr val="tx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/>
              <a:t>Section/chapter title slide option B:</a:t>
            </a:r>
            <a:br>
              <a:rPr lang="en-US"/>
            </a:br>
            <a:r>
              <a:rPr lang="en-US"/>
              <a:t>Title can extend over one or two lines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EB9F50-3388-4284-9110-AE5FA6DEEB9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09706"/>
            <a:ext cx="3643208" cy="6918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5750"/>
            <a:ext cx="5994400" cy="457200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spcBef>
                <a:spcPts val="0"/>
              </a:spcBef>
              <a:defRPr/>
            </a:lvl1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/>
            </a:pPr>
            <a:r>
              <a:rPr lang="en-US"/>
              <a:t>Subtitle if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43802F-247A-4B6E-9D50-074A7F5841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787" y="285751"/>
            <a:ext cx="2407413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913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123950"/>
            <a:ext cx="4114800" cy="3886200"/>
          </a:xfrm>
        </p:spPr>
        <p:txBody>
          <a:bodyPr/>
          <a:lstStyle>
            <a:lvl1pPr>
              <a:spcBef>
                <a:spcPts val="0"/>
              </a:spcBef>
              <a:defRPr/>
            </a:lvl1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123950"/>
            <a:ext cx="4114800" cy="3886200"/>
          </a:xfrm>
        </p:spPr>
        <p:txBody>
          <a:bodyPr/>
          <a:lstStyle>
            <a:lvl1pPr>
              <a:spcBef>
                <a:spcPts val="0"/>
              </a:spcBef>
              <a:defRPr/>
            </a:lvl1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/>
            </a:pPr>
            <a:r>
              <a:rPr lang="en-US"/>
              <a:t>Subtitle if needed</a:t>
            </a:r>
          </a:p>
        </p:txBody>
      </p:sp>
    </p:spTree>
    <p:extLst>
      <p:ext uri="{BB962C8B-B14F-4D97-AF65-F5344CB8AC3E}">
        <p14:creationId xmlns:p14="http://schemas.microsoft.com/office/powerpoint/2010/main" val="187233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123950"/>
            <a:ext cx="4114800" cy="3886200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/>
            </a:pPr>
            <a:r>
              <a:rPr lang="en-US"/>
              <a:t>Subtitle if needed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4724400" y="1123950"/>
            <a:ext cx="4114800" cy="3657600"/>
          </a:xfrm>
        </p:spPr>
        <p:txBody>
          <a:bodyPr anchor="ctr"/>
          <a:lstStyle>
            <a:lvl1pPr marL="0" indent="0" algn="ctr">
              <a:buFontTx/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 hasCustomPrompt="1"/>
          </p:nvPr>
        </p:nvSpPr>
        <p:spPr>
          <a:xfrm>
            <a:off x="4724400" y="4857750"/>
            <a:ext cx="4114800" cy="152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Photo credit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Subtitle if needed</a:t>
            </a:r>
          </a:p>
        </p:txBody>
      </p:sp>
    </p:spTree>
    <p:extLst>
      <p:ext uri="{BB962C8B-B14F-4D97-AF65-F5344CB8AC3E}">
        <p14:creationId xmlns:p14="http://schemas.microsoft.com/office/powerpoint/2010/main" val="2513429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wo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9144000" cy="5143500"/>
          </a:xfrm>
        </p:spPr>
        <p:txBody>
          <a:bodyPr bIns="182880" anchor="ctr"/>
          <a:lstStyle>
            <a:lvl1pPr marL="0" marR="0" indent="0" algn="ctr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/>
            </a:lvl1pPr>
          </a:lstStyle>
          <a:p>
            <a:r>
              <a:rPr lang="en-US"/>
              <a:t>Keyword slide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050FC1-F6A2-41E6-9100-344E497968B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787" y="285751"/>
            <a:ext cx="2407413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51435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2400" y="4857750"/>
            <a:ext cx="6400800" cy="152400"/>
          </a:xfrm>
        </p:spPr>
        <p:txBody>
          <a:bodyPr anchor="b"/>
          <a:lstStyle>
            <a:lvl1pPr>
              <a:spcBef>
                <a:spcPts val="0"/>
              </a:spcBef>
              <a:defRPr lang="en-US" sz="900" b="0" i="0" dirty="0">
                <a:solidFill>
                  <a:schemeClr val="tx1"/>
                </a:solidFill>
                <a:latin typeface="+mn-lt"/>
                <a:ea typeface="+mn-ea"/>
                <a:cs typeface="Arial" charset="0"/>
              </a:defRPr>
            </a:lvl1pPr>
          </a:lstStyle>
          <a:p>
            <a:pPr marL="0" lvl="0" indent="0">
              <a:spcBef>
                <a:spcPts val="750"/>
              </a:spcBef>
              <a:buFont typeface="Arial" panose="020B0604020202020204" pitchFamily="34" charset="0"/>
            </a:pPr>
            <a:r>
              <a:rPr lang="en-US"/>
              <a:t>Replace this copy with image credit when applicable.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9080496-57B2-4609-AB33-458C6DDB55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787" y="285751"/>
            <a:ext cx="2407413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086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943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927868-526A-4C6B-96A5-2F672AB9D3F4}" type="datetimeFigureOut">
              <a:rPr lang="en-US" smtClean="0"/>
              <a:pPr/>
              <a:t>10/17/2025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72167-55E0-4849-BCAD-C2A1CF9D3BE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8362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 (1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1" y="1169988"/>
            <a:ext cx="8229644" cy="3468705"/>
          </a:xfrm>
          <a:prstGeom prst="rect">
            <a:avLst/>
          </a:prstGeom>
        </p:spPr>
        <p:txBody>
          <a:bodyPr lIns="73140" tIns="0" rIns="0" bIns="0">
            <a:noAutofit/>
          </a:bodyPr>
          <a:lstStyle>
            <a:lvl1pPr marL="411362" indent="-411362">
              <a:buClr>
                <a:schemeClr val="accent4"/>
              </a:buClr>
              <a:buSzPct val="100000"/>
              <a:buFont typeface="Wingdings" charset="2"/>
              <a:buChar char="§"/>
              <a:defRPr sz="2800" b="0">
                <a:solidFill>
                  <a:schemeClr val="tx1"/>
                </a:solidFill>
                <a:latin typeface="Artifakt ElementOfc"/>
                <a:cs typeface="Artifakt ElementOfc"/>
              </a:defRPr>
            </a:lvl1pPr>
            <a:lvl2pPr marL="831698" indent="-287891">
              <a:buClr>
                <a:schemeClr val="accent4"/>
              </a:buClr>
              <a:buSzPct val="100000"/>
              <a:buFont typeface="Wingdings" charset="2"/>
              <a:buChar char="§"/>
              <a:defRPr sz="2500" b="0">
                <a:solidFill>
                  <a:schemeClr val="tx1"/>
                </a:solidFill>
                <a:latin typeface="Artifakt ElementOfc"/>
                <a:cs typeface="Artifakt ElementOfc"/>
              </a:defRPr>
            </a:lvl2pPr>
            <a:lvl3pPr marL="1279535" indent="-259102">
              <a:buClr>
                <a:schemeClr val="accent4"/>
              </a:buClr>
              <a:buSzPct val="100000"/>
              <a:buFont typeface="Wingdings" charset="2"/>
              <a:buChar char="§"/>
              <a:defRPr sz="2200" b="0">
                <a:solidFill>
                  <a:schemeClr val="tx1"/>
                </a:solidFill>
                <a:latin typeface="Artifakt ElementOfc"/>
                <a:cs typeface="Artifakt ElementOfc"/>
              </a:defRPr>
            </a:lvl3pPr>
            <a:lvl4pPr marL="1791350" indent="-230313">
              <a:buClr>
                <a:schemeClr val="accent4"/>
              </a:buClr>
              <a:buSzPct val="100000"/>
              <a:buFont typeface="Wingdings" charset="2"/>
              <a:buChar char="§"/>
              <a:defRPr sz="1900" b="0">
                <a:solidFill>
                  <a:schemeClr val="tx1"/>
                </a:solidFill>
                <a:latin typeface="Artifakt ElementOfc"/>
                <a:cs typeface="Artifakt ElementOfc"/>
              </a:defRPr>
            </a:lvl4pPr>
            <a:lvl5pPr marL="2303162" indent="-201524">
              <a:buClr>
                <a:schemeClr val="accent4"/>
              </a:buClr>
              <a:buSzPct val="100000"/>
              <a:buFont typeface="Wingdings" charset="2"/>
              <a:buChar char="§"/>
              <a:defRPr sz="1700" b="0">
                <a:solidFill>
                  <a:schemeClr val="tx1"/>
                </a:solidFill>
                <a:latin typeface="Artifakt ElementOfc"/>
                <a:cs typeface="Artifakt ElementOfc"/>
              </a:defRPr>
            </a:lvl5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457201" y="205979"/>
            <a:ext cx="8229600" cy="85725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2800" b="1" i="0" baseline="0">
                <a:solidFill>
                  <a:schemeClr val="accent4"/>
                </a:solidFill>
                <a:latin typeface="Artifakt ElementOfc"/>
                <a:cs typeface="Artifakt ElementOfc"/>
              </a:defRPr>
            </a:lvl1pPr>
          </a:lstStyle>
          <a:p>
            <a:r>
              <a:rPr lang="en-US"/>
              <a:t>Headers use the </a:t>
            </a:r>
            <a:r>
              <a:rPr lang="en-US" err="1"/>
              <a:t>Artifakt</a:t>
            </a:r>
            <a:r>
              <a:rPr lang="en-US"/>
              <a:t> </a:t>
            </a:r>
            <a:r>
              <a:rPr lang="en-US" err="1"/>
              <a:t>ElementOfc</a:t>
            </a:r>
            <a:r>
              <a:rPr lang="en-US"/>
              <a:t> typeface</a:t>
            </a:r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4852210"/>
            <a:ext cx="8229600" cy="23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68213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285750"/>
            <a:ext cx="8534400" cy="4572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123950"/>
            <a:ext cx="8534400" cy="3886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082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0" r:id="rId3"/>
    <p:sldLayoutId id="2147483671" r:id="rId4"/>
    <p:sldLayoutId id="2147483662" r:id="rId5"/>
    <p:sldLayoutId id="2147483664" r:id="rId6"/>
    <p:sldLayoutId id="2147483672" r:id="rId7"/>
    <p:sldLayoutId id="2147483666" r:id="rId8"/>
    <p:sldLayoutId id="2147483673" r:id="rId9"/>
    <p:sldLayoutId id="2147483674" r:id="rId10"/>
    <p:sldLayoutId id="2147483667" r:id="rId11"/>
    <p:sldLayoutId id="2147483675" r:id="rId12"/>
    <p:sldLayoutId id="2147483676" r:id="rId13"/>
    <p:sldLayoutId id="2147483677" r:id="rId14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30188" indent="-230188" algn="l" defTabSz="685800" rtl="0" eaLnBrk="1" latinLnBrk="0" hangingPunct="1">
        <a:lnSpc>
          <a:spcPct val="90000"/>
        </a:lnSpc>
        <a:spcBef>
          <a:spcPts val="18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76263" indent="-233363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28600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62063" indent="-233363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8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657349"/>
            <a:ext cx="6400800" cy="426177"/>
          </a:xfrm>
        </p:spPr>
        <p:txBody>
          <a:bodyPr/>
          <a:lstStyle/>
          <a:p>
            <a:r>
              <a:rPr lang="en-US" dirty="0"/>
              <a:t>DEXPI Primitives – Stroke / </a:t>
            </a:r>
            <a:r>
              <a:rPr lang="en-US" dirty="0" err="1"/>
              <a:t>DashStyle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457200" y="3437660"/>
            <a:ext cx="4114800" cy="304800"/>
          </a:xfrm>
        </p:spPr>
        <p:txBody>
          <a:bodyPr/>
          <a:lstStyle/>
          <a:p>
            <a:r>
              <a:rPr lang="en-US" dirty="0"/>
              <a:t>2025-10-?? V1 Tonia Pedersen/Manfred </a:t>
            </a:r>
            <a:r>
              <a:rPr lang="en-US" dirty="0" err="1"/>
              <a:t>Theißen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9510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C0513C-6788-B285-18CF-2889B3C60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2785C376-4320-A6DF-7942-92D6933FA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637" y="909548"/>
            <a:ext cx="8736725" cy="402662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Current DEXPI </a:t>
            </a:r>
            <a:r>
              <a:rPr lang="en-US" dirty="0" err="1"/>
              <a:t>DashStyle</a:t>
            </a:r>
            <a:r>
              <a:rPr lang="en-US" dirty="0"/>
              <a:t>: </a:t>
            </a:r>
          </a:p>
          <a:p>
            <a:pPr lvl="1"/>
            <a:r>
              <a:rPr lang="en-US" sz="1400" dirty="0"/>
              <a:t>Limited to basic dash/dot patterns</a:t>
            </a:r>
          </a:p>
          <a:p>
            <a:pPr lvl="1"/>
            <a:r>
              <a:rPr lang="en-US" sz="1400" dirty="0"/>
              <a:t>Limited </a:t>
            </a:r>
            <a:r>
              <a:rPr lang="en-US" sz="1400" dirty="0" err="1"/>
              <a:t>linecap</a:t>
            </a:r>
            <a:r>
              <a:rPr lang="en-US" sz="1400" dirty="0"/>
              <a:t> types</a:t>
            </a:r>
          </a:p>
          <a:p>
            <a:pPr lvl="1"/>
            <a:endParaRPr lang="en-US" sz="1400" dirty="0"/>
          </a:p>
          <a:p>
            <a:pPr marL="0" indent="0">
              <a:buNone/>
            </a:pPr>
            <a:r>
              <a:rPr lang="en-US" dirty="0"/>
              <a:t>New </a:t>
            </a:r>
            <a:r>
              <a:rPr lang="en-US" dirty="0" err="1"/>
              <a:t>DashStyles</a:t>
            </a:r>
            <a:r>
              <a:rPr lang="en-US" dirty="0"/>
              <a:t> required:</a:t>
            </a:r>
          </a:p>
          <a:p>
            <a:pPr lvl="1"/>
            <a:r>
              <a:rPr lang="en-US" sz="1400" dirty="0" err="1"/>
              <a:t>DashStyle</a:t>
            </a:r>
            <a:r>
              <a:rPr lang="en-US" sz="1400" dirty="0"/>
              <a:t> to include symbol in pattern</a:t>
            </a:r>
          </a:p>
          <a:p>
            <a:pPr lvl="1"/>
            <a:endParaRPr lang="en-US" sz="1400" dirty="0"/>
          </a:p>
          <a:p>
            <a:pPr lvl="1"/>
            <a:r>
              <a:rPr lang="en-US" sz="1400" dirty="0" err="1"/>
              <a:t>Linecap</a:t>
            </a:r>
            <a:endParaRPr lang="en-US" sz="1400" dirty="0"/>
          </a:p>
          <a:p>
            <a:pPr lvl="1"/>
            <a:r>
              <a:rPr lang="en-US" sz="1400" dirty="0"/>
              <a:t>Scaling of line – scale the markup as well ?</a:t>
            </a:r>
          </a:p>
          <a:p>
            <a:pPr lvl="1"/>
            <a:r>
              <a:rPr lang="en-US" sz="1400" dirty="0"/>
              <a:t>Dash pattern []</a:t>
            </a:r>
          </a:p>
          <a:p>
            <a:pPr lvl="1"/>
            <a:r>
              <a:rPr lang="en-US" sz="1400" dirty="0"/>
              <a:t>Markup pattern:</a:t>
            </a:r>
          </a:p>
          <a:p>
            <a:pPr lvl="2"/>
            <a:r>
              <a:rPr lang="en-US" sz="1400" dirty="0"/>
              <a:t>Symbol primitive definition - </a:t>
            </a:r>
          </a:p>
          <a:p>
            <a:pPr lvl="2"/>
            <a:r>
              <a:rPr lang="en-US" sz="1400" dirty="0"/>
              <a:t>Symbol distance: 8</a:t>
            </a:r>
          </a:p>
          <a:p>
            <a:pPr lvl="2"/>
            <a:r>
              <a:rPr lang="en-US" sz="1400" dirty="0"/>
              <a:t>Start offset: 6.5</a:t>
            </a:r>
          </a:p>
          <a:p>
            <a:pPr lvl="2"/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75B80E6-1DE7-8E3C-AF11-63046B6C4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112" y="909548"/>
            <a:ext cx="3065096" cy="4096792"/>
          </a:xfrm>
          <a:prstGeom prst="rect">
            <a:avLst/>
          </a:prstGeom>
        </p:spPr>
      </p:pic>
      <p:pic>
        <p:nvPicPr>
          <p:cNvPr id="3" name="Object 2">
            <a:extLst>
              <a:ext uri="{63B3BB69-23CF-44E3-9099-C40C66FF867C}">
                <a14:compatExt xmlns:a14="http://schemas.microsoft.com/office/drawing/2010/main" spid="_x0000_s1026"/>
              </a:ext>
              <a:ext uri="{FF2B5EF4-FFF2-40B4-BE49-F238E27FC236}">
                <a16:creationId xmlns:a16="http://schemas.microsoft.com/office/drawing/2014/main" id="{00000000-0008-0000-0000-0000020400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1374" y="1705928"/>
            <a:ext cx="1133475" cy="31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842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C0513C-6788-B285-18CF-2889B3C60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2785C376-4320-A6DF-7942-92D6933FA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988657"/>
            <a:ext cx="8736725" cy="457200"/>
          </a:xfrm>
        </p:spPr>
        <p:txBody>
          <a:bodyPr/>
          <a:lstStyle/>
          <a:p>
            <a:r>
              <a:rPr lang="en-US" dirty="0"/>
              <a:t>Do not copy the features of </a:t>
            </a:r>
            <a:r>
              <a:rPr lang="en-US" dirty="0" err="1"/>
              <a:t>svg</a:t>
            </a:r>
            <a:r>
              <a:rPr lang="en-US" dirty="0"/>
              <a:t>.</a:t>
            </a:r>
          </a:p>
          <a:p>
            <a:r>
              <a:rPr lang="en-US" dirty="0"/>
              <a:t>Need to cover:</a:t>
            </a:r>
          </a:p>
          <a:p>
            <a:pPr lvl="1"/>
            <a:r>
              <a:rPr lang="en-US" dirty="0"/>
              <a:t>Sub-symbol </a:t>
            </a:r>
          </a:p>
          <a:p>
            <a:pPr lvl="1"/>
            <a:r>
              <a:rPr lang="en-US" dirty="0"/>
              <a:t>Repeating pattern to include dash/dot/sub-symbol</a:t>
            </a:r>
          </a:p>
          <a:p>
            <a:pPr lvl="1"/>
            <a:r>
              <a:rPr lang="en-US" dirty="0"/>
              <a:t>Line caps</a:t>
            </a:r>
          </a:p>
          <a:p>
            <a:pPr lvl="1"/>
            <a:r>
              <a:rPr lang="en-US" dirty="0"/>
              <a:t>Double lines (multi-line?)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095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BASF_CONVERTED_TO_TAGS" val="1"/>
</p:tagLst>
</file>

<file path=ppt/theme/theme1.xml><?xml version="1.0" encoding="utf-8"?>
<a:theme xmlns:a="http://schemas.openxmlformats.org/drawingml/2006/main" name="Office Theme">
  <a:themeElements>
    <a:clrScheme name="Custom 89">
      <a:dk1>
        <a:srgbClr val="3C3C3C"/>
      </a:dk1>
      <a:lt1>
        <a:srgbClr val="FFFFFF"/>
      </a:lt1>
      <a:dk2>
        <a:srgbClr val="0696D7"/>
      </a:dk2>
      <a:lt2>
        <a:srgbClr val="FFFFFF"/>
      </a:lt2>
      <a:accent1>
        <a:srgbClr val="0595D6"/>
      </a:accent1>
      <a:accent2>
        <a:srgbClr val="87BC40"/>
      </a:accent2>
      <a:accent3>
        <a:srgbClr val="32BCAD"/>
      </a:accent3>
      <a:accent4>
        <a:srgbClr val="1858A8"/>
      </a:accent4>
      <a:accent5>
        <a:srgbClr val="FAA21B"/>
      </a:accent5>
      <a:accent6>
        <a:srgbClr val="DD2222"/>
      </a:accent6>
      <a:hlink>
        <a:srgbClr val="0595D6"/>
      </a:hlink>
      <a:folHlink>
        <a:srgbClr val="666666"/>
      </a:folHlink>
    </a:clrScheme>
    <a:fontScheme name="Autodesk Artifakt 2018">
      <a:majorFont>
        <a:latin typeface="Artifakt LegendOfc"/>
        <a:ea typeface=""/>
        <a:cs typeface=""/>
      </a:majorFont>
      <a:minorFont>
        <a:latin typeface="Artifakt ElementOfc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90000"/>
          </a:lnSpc>
          <a:defRPr sz="16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>
          <a:lnSpc>
            <a:spcPct val="90000"/>
          </a:lnSpc>
          <a:defRPr sz="1600"/>
        </a:defPPr>
      </a:lstStyle>
    </a:txDef>
  </a:objectDefaults>
  <a:extraClrSchemeLst/>
  <a:extLst>
    <a:ext uri="{05A4C25C-085E-4340-85A3-A5531E510DB2}">
      <thm15:themeFamily xmlns:thm15="http://schemas.microsoft.com/office/thememl/2012/main" name="DEXPI_Marketing_PPT_Template.pptx" id="{FB5682A9-E0A8-4386-AC74-429128522CC6}" vid="{E0819F48-55D2-4483-89D1-9B786FC3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DEXPI_Marketing_PPT_Template</Template>
  <TotalTime>1033</TotalTime>
  <Words>98</Words>
  <Application>Microsoft Office PowerPoint</Application>
  <PresentationFormat>On-screen Show (16:9)</PresentationFormat>
  <Paragraphs>24</Paragraphs>
  <Slides>3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Artifakt ElementOfc</vt:lpstr>
      <vt:lpstr>Artifakt LegendOfc</vt:lpstr>
      <vt:lpstr>Wingdings</vt:lpstr>
      <vt:lpstr>Office Theme</vt:lpstr>
      <vt:lpstr>Microsoft Visio Drawing</vt:lpstr>
      <vt:lpstr>DEXPI Primitives – Stroke / DashStyle</vt:lpstr>
      <vt:lpstr>Motivation</vt:lpstr>
      <vt:lpstr>Proposal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Tonia Pedersen</dc:creator>
  <cp:lastModifiedBy>Tonia Pedersen</cp:lastModifiedBy>
  <cp:revision>11</cp:revision>
  <dcterms:created xsi:type="dcterms:W3CDTF">2020-12-01T11:28:56Z</dcterms:created>
  <dcterms:modified xsi:type="dcterms:W3CDTF">2025-10-17T10:53:10Z</dcterms:modified>
  <cp:contentStatus/>
</cp:coreProperties>
</file>