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8" r:id="rId2"/>
    <p:sldId id="383" r:id="rId3"/>
    <p:sldId id="384" r:id="rId4"/>
    <p:sldId id="385" r:id="rId5"/>
    <p:sldId id="386" r:id="rId6"/>
    <p:sldId id="387" r:id="rId7"/>
    <p:sldId id="381" r:id="rId8"/>
  </p:sldIdLst>
  <p:sldSz cx="9144000" cy="5143500" type="screen16x9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57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19-08-2025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&lt;ProcessSignalGeneratingSystem ID = "ProcessSignalGeneratingSystem-1" </a:t>
            </a:r>
            <a:r>
              <a:rPr lang="en-US" dirty="0" err="1"/>
              <a:t>ComponentClass</a:t>
            </a:r>
            <a:r>
              <a:rPr lang="en-US" dirty="0"/>
              <a:t> = "ProcessSignalGeneratingSystem"&gt;</a:t>
            </a:r>
          </a:p>
          <a:p>
            <a:r>
              <a:rPr lang="en-US" dirty="0"/>
              <a:t>  &lt;ProcessSignalGeneratingSystemComponent ID = "SensorWellReference-1" </a:t>
            </a:r>
            <a:r>
              <a:rPr lang="en-US" dirty="0" err="1"/>
              <a:t>ComponentClass</a:t>
            </a:r>
            <a:r>
              <a:rPr lang="en-US" dirty="0"/>
              <a:t> = "SensorWellReference"&gt;</a:t>
            </a:r>
          </a:p>
          <a:p>
            <a:r>
              <a:rPr lang="en-US" dirty="0"/>
              <a:t>    &lt;Association Type = "refers to" </a:t>
            </a:r>
            <a:r>
              <a:rPr lang="en-US" dirty="0" err="1"/>
              <a:t>ItemID</a:t>
            </a:r>
            <a:r>
              <a:rPr lang="en-US" dirty="0"/>
              <a:t> = "SensorWell-1"/&gt;</a:t>
            </a:r>
          </a:p>
          <a:p>
            <a:r>
              <a:rPr lang="en-US" dirty="0"/>
              <a:t>  &lt;/ProcessSignalGeneratingSystemComponent&gt;</a:t>
            </a:r>
          </a:p>
          <a:p>
            <a:r>
              <a:rPr lang="en-US" dirty="0"/>
              <a:t>&lt;/ProcessSignalGeneratingSystem&gt;</a:t>
            </a:r>
          </a:p>
          <a:p>
            <a:r>
              <a:rPr lang="en-US" dirty="0"/>
              <a:t>&lt;</a:t>
            </a:r>
            <a:r>
              <a:rPr lang="en-US" dirty="0" err="1"/>
              <a:t>PipingNetworkSystem</a:t>
            </a:r>
            <a:r>
              <a:rPr lang="en-US" dirty="0"/>
              <a:t> ID = "PipingNetworkSystem-1" </a:t>
            </a:r>
            <a:r>
              <a:rPr lang="en-US" dirty="0" err="1"/>
              <a:t>ComponentClass</a:t>
            </a:r>
            <a:r>
              <a:rPr lang="en-US" dirty="0"/>
              <a:t> = "</a:t>
            </a:r>
            <a:r>
              <a:rPr lang="en-US" dirty="0" err="1"/>
              <a:t>PipingNetworkSystem</a:t>
            </a:r>
            <a:r>
              <a:rPr lang="en-US" dirty="0"/>
              <a:t>"&gt;</a:t>
            </a:r>
          </a:p>
          <a:p>
            <a:r>
              <a:rPr lang="en-US" dirty="0"/>
              <a:t>  &lt;</a:t>
            </a:r>
            <a:r>
              <a:rPr lang="en-US" dirty="0" err="1"/>
              <a:t>PipingNetworkSegment</a:t>
            </a:r>
            <a:r>
              <a:rPr lang="en-US" dirty="0"/>
              <a:t> ID = "PipingNetworkSegment-1" </a:t>
            </a:r>
            <a:r>
              <a:rPr lang="en-US" dirty="0" err="1"/>
              <a:t>ComponentClass</a:t>
            </a:r>
            <a:r>
              <a:rPr lang="en-US" dirty="0"/>
              <a:t> = "</a:t>
            </a:r>
            <a:r>
              <a:rPr lang="en-US" dirty="0" err="1"/>
              <a:t>PipingNetworkSegment</a:t>
            </a:r>
            <a:r>
              <a:rPr lang="en-US" dirty="0"/>
              <a:t>"&gt;</a:t>
            </a:r>
          </a:p>
          <a:p>
            <a:r>
              <a:rPr lang="en-US" dirty="0"/>
              <a:t>    &lt;PipingComponent ID = "SensorWell-1" </a:t>
            </a:r>
            <a:r>
              <a:rPr lang="en-US" dirty="0" err="1"/>
              <a:t>ComponentClass</a:t>
            </a:r>
            <a:r>
              <a:rPr lang="en-US" dirty="0"/>
              <a:t> = "SensorWell"&gt;</a:t>
            </a:r>
          </a:p>
          <a:p>
            <a:r>
              <a:rPr lang="en-US" dirty="0"/>
              <a:t>      &lt;Association Type = "is referenced by" </a:t>
            </a:r>
            <a:r>
              <a:rPr lang="en-US" dirty="0" err="1"/>
              <a:t>ItemID</a:t>
            </a:r>
            <a:r>
              <a:rPr lang="en-US" dirty="0"/>
              <a:t> = "SensorWellReference-1"/&gt;</a:t>
            </a:r>
          </a:p>
          <a:p>
            <a:r>
              <a:rPr lang="en-US" dirty="0"/>
              <a:t>    &lt;/PipingComponent&gt;</a:t>
            </a:r>
          </a:p>
          <a:p>
            <a:r>
              <a:rPr lang="en-US" dirty="0"/>
              <a:t>  &lt;/</a:t>
            </a:r>
            <a:r>
              <a:rPr lang="en-US" dirty="0" err="1"/>
              <a:t>PipingNetworkSegment</a:t>
            </a:r>
            <a:r>
              <a:rPr lang="en-US" dirty="0"/>
              <a:t>&gt;</a:t>
            </a:r>
          </a:p>
          <a:p>
            <a:r>
              <a:rPr lang="en-US" dirty="0"/>
              <a:t>&lt;/</a:t>
            </a:r>
            <a:r>
              <a:rPr lang="en-US" dirty="0" err="1"/>
              <a:t>PipingNetworkSystem</a:t>
            </a:r>
            <a:r>
              <a:rPr lang="en-US" dirty="0"/>
              <a:t>&gt;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C8280-5F62-3D48-BBB9-576BF0EE92F4}" type="slidenum">
              <a:rPr lang="uk-UA" smtClean="0"/>
              <a:pPr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006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7349"/>
            <a:ext cx="6400800" cy="1164227"/>
          </a:xfrm>
        </p:spPr>
        <p:txBody>
          <a:bodyPr/>
          <a:lstStyle/>
          <a:p>
            <a:r>
              <a:rPr lang="en-US" dirty="0" err="1"/>
              <a:t>ProcessSafetyFunction</a:t>
            </a:r>
            <a:r>
              <a:rPr lang="en-US" dirty="0"/>
              <a:t> – </a:t>
            </a:r>
            <a:r>
              <a:rPr lang="en-US" dirty="0" err="1"/>
              <a:t>ProcessInstrumentationFunction</a:t>
            </a:r>
            <a:r>
              <a:rPr lang="en-US" dirty="0"/>
              <a:t> subtype for safety elements.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2025-08-18 V1 Tonia Pedersen</a:t>
            </a:r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C6AA2B1-B22B-5297-85C0-1655250DC120}"/>
              </a:ext>
            </a:extLst>
          </p:cNvPr>
          <p:cNvSpPr/>
          <p:nvPr/>
        </p:nvSpPr>
        <p:spPr>
          <a:xfrm>
            <a:off x="5833854" y="1649547"/>
            <a:ext cx="3200896" cy="32797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23950"/>
            <a:ext cx="8736725" cy="5511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DEXPI model: </a:t>
            </a:r>
          </a:p>
          <a:p>
            <a:pPr lvl="1"/>
            <a:r>
              <a:rPr lang="en-US" sz="1400" dirty="0" err="1"/>
              <a:t>ProcessInstrumentationFunction</a:t>
            </a:r>
            <a:r>
              <a:rPr lang="en-US" sz="1400" dirty="0"/>
              <a:t> as a general class definition for instrumentation and/or control structures.</a:t>
            </a:r>
          </a:p>
          <a:p>
            <a:pPr lvl="1"/>
            <a:r>
              <a:rPr lang="en-US" sz="1400" dirty="0" err="1"/>
              <a:t>ProcessControlFunction</a:t>
            </a:r>
            <a:r>
              <a:rPr lang="en-US" sz="1400" dirty="0"/>
              <a:t> for control structures specifically.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6A024-B71F-2A8A-FFA2-789D9D8EA9DB}"/>
              </a:ext>
            </a:extLst>
          </p:cNvPr>
          <p:cNvSpPr txBox="1">
            <a:spLocks/>
          </p:cNvSpPr>
          <p:nvPr/>
        </p:nvSpPr>
        <p:spPr>
          <a:xfrm>
            <a:off x="304798" y="4547502"/>
            <a:ext cx="8736725" cy="4572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Unambiguous identification of import Process Safety Functions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1A3B9D7-D905-62DE-BEF1-0519FC4841D1}"/>
              </a:ext>
            </a:extLst>
          </p:cNvPr>
          <p:cNvSpPr txBox="1">
            <a:spLocks/>
          </p:cNvSpPr>
          <p:nvPr/>
        </p:nvSpPr>
        <p:spPr>
          <a:xfrm>
            <a:off x="5972614" y="1785742"/>
            <a:ext cx="2941272" cy="7860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BAFD6-0A02-CB34-FB0F-6145B6C2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45" y="2233748"/>
            <a:ext cx="2128278" cy="1845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642903-4D19-2C0A-2196-668D9CE9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282" y="2580522"/>
            <a:ext cx="1557831" cy="227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(DEXPI Information Model)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88657"/>
            <a:ext cx="8736725" cy="457200"/>
          </a:xfrm>
        </p:spPr>
        <p:txBody>
          <a:bodyPr/>
          <a:lstStyle/>
          <a:p>
            <a:r>
              <a:rPr lang="en-US" dirty="0"/>
              <a:t>add new </a:t>
            </a:r>
            <a:r>
              <a:rPr lang="en-US" dirty="0" err="1"/>
              <a:t>ProcessSafetyFunction</a:t>
            </a:r>
            <a:r>
              <a:rPr lang="en-US" dirty="0"/>
              <a:t> class as new sub-type of </a:t>
            </a:r>
            <a:r>
              <a:rPr lang="en-US" dirty="0" err="1"/>
              <a:t>ProcessInstrumentationFunction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B4D0A-6367-AD06-03DD-B5FD99724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47" y="1608816"/>
            <a:ext cx="4677845" cy="26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3FFD93-3290-B18C-9CCD-912F82BF1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hteck 7">
            <a:extLst>
              <a:ext uri="{FF2B5EF4-FFF2-40B4-BE49-F238E27FC236}">
                <a16:creationId xmlns:a16="http://schemas.microsoft.com/office/drawing/2014/main" id="{B8414C30-3B0A-A952-5949-3DC4625D9C70}"/>
              </a:ext>
            </a:extLst>
          </p:cNvPr>
          <p:cNvSpPr/>
          <p:nvPr/>
        </p:nvSpPr>
        <p:spPr>
          <a:xfrm>
            <a:off x="5833854" y="1649547"/>
            <a:ext cx="3200896" cy="32797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60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B716A3F4-62B3-104A-B9EA-9D874CCB7F2F}"/>
              </a:ext>
            </a:extLst>
          </p:cNvPr>
          <p:cNvSpPr txBox="1">
            <a:spLocks/>
          </p:cNvSpPr>
          <p:nvPr/>
        </p:nvSpPr>
        <p:spPr>
          <a:xfrm>
            <a:off x="5972614" y="1785742"/>
            <a:ext cx="2941272" cy="7860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1135BF-998B-7B9B-95C5-E50AD4173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282" y="2580522"/>
            <a:ext cx="1557831" cy="227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8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F4CD1-D7BA-2F86-AED5-2D817251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(DEXPI 2.0 Implementation)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3D8E3-4236-898B-427F-203EC0AD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FC90F-B95F-42AC-244A-8A05F68C9B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5A59C-6338-36DF-DD89-48827A36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(Proteus, simplified)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EF2857-418F-59B8-723E-9D4A352EE4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0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F4CD1-D7BA-2F86-AED5-2D817251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Questions, remarks, …?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3D8E3-4236-898B-427F-203EC0AD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FC90F-B95F-42AC-244A-8A05F68C9B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8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890</TotalTime>
  <Words>193</Words>
  <Application>Microsoft Office PowerPoint</Application>
  <PresentationFormat>On-screen Show (16:9)</PresentationFormat>
  <Paragraphs>28</Paragraphs>
  <Slides>7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Artifakt ElementOfc</vt:lpstr>
      <vt:lpstr>Artifakt LegendOfc</vt:lpstr>
      <vt:lpstr>Wingdings</vt:lpstr>
      <vt:lpstr>Office Theme</vt:lpstr>
      <vt:lpstr>ProcessSafetyFunction – ProcessInstrumentationFunction subtype for safety elements. </vt:lpstr>
      <vt:lpstr>Motivation</vt:lpstr>
      <vt:lpstr>Proposal (DEXPI Information Model)</vt:lpstr>
      <vt:lpstr>Example</vt:lpstr>
      <vt:lpstr>Proposal (DEXPI 2.0 Implementation)</vt:lpstr>
      <vt:lpstr>Example (Proteus, simplified)</vt:lpstr>
      <vt:lpstr>Questions, remarks, …?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Tonia Pedersen</dc:creator>
  <cp:lastModifiedBy>Tonia Pedersen</cp:lastModifiedBy>
  <cp:revision>6</cp:revision>
  <dcterms:created xsi:type="dcterms:W3CDTF">2020-12-01T11:28:56Z</dcterms:created>
  <dcterms:modified xsi:type="dcterms:W3CDTF">2025-08-19T10:19:58Z</dcterms:modified>
  <cp:contentStatus/>
</cp:coreProperties>
</file>