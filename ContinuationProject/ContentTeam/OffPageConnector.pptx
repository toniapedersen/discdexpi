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78" r:id="rId2"/>
    <p:sldId id="383" r:id="rId3"/>
    <p:sldId id="384" r:id="rId4"/>
    <p:sldId id="386" r:id="rId5"/>
  </p:sldIdLst>
  <p:sldSz cx="9144000" cy="5143500" type="screen16x9"/>
  <p:notesSz cx="6858000" cy="9144000"/>
  <p:custDataLst>
    <p:tags r:id="rId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" name="Author" initials="A" lastIdx="0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D1"/>
    <a:srgbClr val="DD2222"/>
    <a:srgbClr val="3C3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247" autoAdjust="0"/>
  </p:normalViewPr>
  <p:slideViewPr>
    <p:cSldViewPr snapToGrid="0">
      <p:cViewPr varScale="1">
        <p:scale>
          <a:sx n="134" d="100"/>
          <a:sy n="134" d="100"/>
        </p:scale>
        <p:origin x="138" y="6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charset="0"/>
                <a:cs typeface="Arial" charset="0"/>
              </a:defRPr>
            </a:lvl1pPr>
          </a:lstStyle>
          <a:p>
            <a:fld id="{4AA9FAFC-2319-504C-A7E6-C27BB7BBEBBC}" type="datetimeFigureOut">
              <a:rPr lang="mr-IN"/>
              <a:pPr/>
              <a:t>25-11-2025</a:t>
            </a:fld>
            <a:endParaRPr lang="mr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charset="0"/>
              </a:defRPr>
            </a:lvl1pPr>
          </a:lstStyle>
          <a:p>
            <a:fld id="{8E2C8280-5F62-3D48-BBB9-576BF0EE92F4}" type="slidenum">
              <a:rPr lang="uk-UA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66889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9" name="Freeform 28"/>
          <p:cNvSpPr/>
          <p:nvPr userDrawn="1"/>
        </p:nvSpPr>
        <p:spPr>
          <a:xfrm flipV="1">
            <a:off x="0" y="1200150"/>
            <a:ext cx="7385194" cy="2667000"/>
          </a:xfrm>
          <a:custGeom>
            <a:avLst/>
            <a:gdLst>
              <a:gd name="connsiteX0" fmla="*/ 0 w 7385194"/>
              <a:gd name="connsiteY0" fmla="*/ 2667000 h 2667000"/>
              <a:gd name="connsiteX1" fmla="*/ 7385194 w 7385194"/>
              <a:gd name="connsiteY1" fmla="*/ 2667000 h 2667000"/>
              <a:gd name="connsiteX2" fmla="*/ 6285274 w 7385194"/>
              <a:gd name="connsiteY2" fmla="*/ 0 h 2667000"/>
              <a:gd name="connsiteX3" fmla="*/ 0 w 7385194"/>
              <a:gd name="connsiteY3" fmla="*/ 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5194" h="2667000">
                <a:moveTo>
                  <a:pt x="0" y="2667000"/>
                </a:moveTo>
                <a:lnTo>
                  <a:pt x="7385194" y="2667000"/>
                </a:lnTo>
                <a:lnTo>
                  <a:pt x="628527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657350"/>
            <a:ext cx="6400800" cy="685800"/>
          </a:xfrm>
        </p:spPr>
        <p:txBody>
          <a:bodyPr anchor="t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slide option A: </a:t>
            </a:r>
            <a:br>
              <a:rPr lang="en-US"/>
            </a:br>
            <a:r>
              <a:rPr lang="en-US"/>
              <a:t>Main title can extend over one or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60960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Presenter Name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952750"/>
            <a:ext cx="6096000" cy="228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52400" y="4857750"/>
            <a:ext cx="1295400" cy="1524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sk-SK" sz="700">
                <a:solidFill>
                  <a:schemeClr val="bg2"/>
                </a:solidFill>
              </a:rPr>
              <a:t>© 2018 Autodesk, Inc.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8C078B-CBDA-4DD0-868B-C6493C5777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914" y="4171950"/>
            <a:ext cx="3643208" cy="691894"/>
          </a:xfrm>
          <a:prstGeom prst="rect">
            <a:avLst/>
          </a:prstGeom>
          <a:solidFill>
            <a:schemeClr val="bg1">
              <a:alpha val="56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10190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Freeform 9"/>
          <p:cNvSpPr/>
          <p:nvPr userDrawn="1"/>
        </p:nvSpPr>
        <p:spPr>
          <a:xfrm flipV="1">
            <a:off x="0" y="1200150"/>
            <a:ext cx="7385194" cy="2667000"/>
          </a:xfrm>
          <a:custGeom>
            <a:avLst/>
            <a:gdLst>
              <a:gd name="connsiteX0" fmla="*/ 0 w 7385194"/>
              <a:gd name="connsiteY0" fmla="*/ 2667000 h 2667000"/>
              <a:gd name="connsiteX1" fmla="*/ 7385194 w 7385194"/>
              <a:gd name="connsiteY1" fmla="*/ 2667000 h 2667000"/>
              <a:gd name="connsiteX2" fmla="*/ 6285274 w 7385194"/>
              <a:gd name="connsiteY2" fmla="*/ 0 h 2667000"/>
              <a:gd name="connsiteX3" fmla="*/ 0 w 7385194"/>
              <a:gd name="connsiteY3" fmla="*/ 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5194" h="2667000">
                <a:moveTo>
                  <a:pt x="0" y="2667000"/>
                </a:moveTo>
                <a:lnTo>
                  <a:pt x="7385194" y="2667000"/>
                </a:lnTo>
                <a:lnTo>
                  <a:pt x="628527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114550"/>
            <a:ext cx="6248400" cy="6858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Section/chapter title slide option A:</a:t>
            </a:r>
            <a:br>
              <a:rPr lang="en-US"/>
            </a:br>
            <a:r>
              <a:rPr lang="en-US"/>
              <a:t>Title can extend 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178067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Freeform 7"/>
          <p:cNvSpPr/>
          <p:nvPr userDrawn="1"/>
        </p:nvSpPr>
        <p:spPr>
          <a:xfrm flipV="1">
            <a:off x="0" y="0"/>
            <a:ext cx="7880158" cy="5143500"/>
          </a:xfrm>
          <a:custGeom>
            <a:avLst/>
            <a:gdLst>
              <a:gd name="connsiteX0" fmla="*/ 0 w 7880158"/>
              <a:gd name="connsiteY0" fmla="*/ 5143500 h 5143500"/>
              <a:gd name="connsiteX1" fmla="*/ 7880158 w 7880158"/>
              <a:gd name="connsiteY1" fmla="*/ 5143500 h 5143500"/>
              <a:gd name="connsiteX2" fmla="*/ 5758883 w 7880158"/>
              <a:gd name="connsiteY2" fmla="*/ 0 h 5143500"/>
              <a:gd name="connsiteX3" fmla="*/ 0 w 7880158"/>
              <a:gd name="connsiteY3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0158" h="5143500">
                <a:moveTo>
                  <a:pt x="0" y="5143500"/>
                </a:moveTo>
                <a:lnTo>
                  <a:pt x="7880158" y="5143500"/>
                </a:lnTo>
                <a:lnTo>
                  <a:pt x="575888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657350"/>
            <a:ext cx="6400800" cy="685800"/>
          </a:xfrm>
        </p:spPr>
        <p:txBody>
          <a:bodyPr anchor="t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slide option B: </a:t>
            </a:r>
            <a:br>
              <a:rPr lang="en-US"/>
            </a:br>
            <a:r>
              <a:rPr lang="en-US"/>
              <a:t>Main title can extend over one or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60960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Presenter Name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952750"/>
            <a:ext cx="6096000" cy="228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A0EE0-C819-4AE9-9DD6-46B7A6F530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09706"/>
            <a:ext cx="3643208" cy="691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Freeform 4"/>
          <p:cNvSpPr/>
          <p:nvPr userDrawn="1"/>
        </p:nvSpPr>
        <p:spPr>
          <a:xfrm flipV="1">
            <a:off x="0" y="0"/>
            <a:ext cx="7880158" cy="5143500"/>
          </a:xfrm>
          <a:custGeom>
            <a:avLst/>
            <a:gdLst>
              <a:gd name="connsiteX0" fmla="*/ 0 w 7880158"/>
              <a:gd name="connsiteY0" fmla="*/ 5143500 h 5143500"/>
              <a:gd name="connsiteX1" fmla="*/ 7880158 w 7880158"/>
              <a:gd name="connsiteY1" fmla="*/ 5143500 h 5143500"/>
              <a:gd name="connsiteX2" fmla="*/ 5758883 w 7880158"/>
              <a:gd name="connsiteY2" fmla="*/ 0 h 5143500"/>
              <a:gd name="connsiteX3" fmla="*/ 0 w 7880158"/>
              <a:gd name="connsiteY3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0158" h="5143500">
                <a:moveTo>
                  <a:pt x="0" y="5143500"/>
                </a:moveTo>
                <a:lnTo>
                  <a:pt x="7880158" y="5143500"/>
                </a:lnTo>
                <a:lnTo>
                  <a:pt x="575888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114550"/>
            <a:ext cx="6248400" cy="6858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Section/chapter title slide option B:</a:t>
            </a:r>
            <a:br>
              <a:rPr lang="en-US"/>
            </a:br>
            <a:r>
              <a:rPr lang="en-US"/>
              <a:t>Title can extend over one or two lines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EB9F50-3388-4284-9110-AE5FA6DEEB9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09706"/>
            <a:ext cx="3643208" cy="691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5750"/>
            <a:ext cx="5994400" cy="4572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43802F-247A-4B6E-9D50-074A7F5841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1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23950"/>
            <a:ext cx="4114800" cy="38862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123950"/>
            <a:ext cx="4114800" cy="38862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</p:spTree>
    <p:extLst>
      <p:ext uri="{BB962C8B-B14F-4D97-AF65-F5344CB8AC3E}">
        <p14:creationId xmlns:p14="http://schemas.microsoft.com/office/powerpoint/2010/main" val="18723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23950"/>
            <a:ext cx="4114800" cy="38862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724400" y="1123950"/>
            <a:ext cx="4114800" cy="3657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857750"/>
            <a:ext cx="4114800" cy="152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Photo credit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 if needed</a:t>
            </a:r>
          </a:p>
        </p:txBody>
      </p:sp>
    </p:spTree>
    <p:extLst>
      <p:ext uri="{BB962C8B-B14F-4D97-AF65-F5344CB8AC3E}">
        <p14:creationId xmlns:p14="http://schemas.microsoft.com/office/powerpoint/2010/main" val="251342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5143500"/>
          </a:xfrm>
        </p:spPr>
        <p:txBody>
          <a:bodyPr bIns="182880"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/>
            </a:lvl1pPr>
          </a:lstStyle>
          <a:p>
            <a:r>
              <a:rPr lang="en-US"/>
              <a:t>Keyword slide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50FC1-F6A2-41E6-9100-344E497968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2400" y="4857750"/>
            <a:ext cx="6400800" cy="152400"/>
          </a:xfrm>
        </p:spPr>
        <p:txBody>
          <a:bodyPr anchor="b"/>
          <a:lstStyle>
            <a:lvl1pPr>
              <a:spcBef>
                <a:spcPts val="0"/>
              </a:spcBef>
              <a:defRPr lang="en-US" sz="900" b="0" i="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1pPr>
          </a:lstStyle>
          <a:p>
            <a:pPr marL="0" lvl="0" indent="0">
              <a:spcBef>
                <a:spcPts val="750"/>
              </a:spcBef>
              <a:buFont typeface="Arial" panose="020B0604020202020204" pitchFamily="34" charset="0"/>
            </a:pPr>
            <a:r>
              <a:rPr lang="en-US"/>
              <a:t>Replace this copy with image credit when applicable.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080496-57B2-4609-AB33-458C6DDB55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86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43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27868-526A-4C6B-96A5-2F672AB9D3F4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72167-55E0-4849-BCAD-C2A1CF9D3B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36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1" y="1169988"/>
            <a:ext cx="8229644" cy="3468705"/>
          </a:xfrm>
          <a:prstGeom prst="rect">
            <a:avLst/>
          </a:prstGeom>
        </p:spPr>
        <p:txBody>
          <a:bodyPr lIns="73140" tIns="0" rIns="0" bIns="0">
            <a:noAutofit/>
          </a:bodyPr>
          <a:lstStyle>
            <a:lvl1pPr marL="411362" indent="-411362">
              <a:buClr>
                <a:schemeClr val="accent4"/>
              </a:buClr>
              <a:buSzPct val="100000"/>
              <a:buFont typeface="Wingdings" charset="2"/>
              <a:buChar char="§"/>
              <a:defRPr sz="2800" b="0">
                <a:solidFill>
                  <a:schemeClr val="tx1"/>
                </a:solidFill>
                <a:latin typeface="Artifakt ElementOfc"/>
                <a:cs typeface="Artifakt ElementOfc"/>
              </a:defRPr>
            </a:lvl1pPr>
            <a:lvl2pPr marL="831698" indent="-287891">
              <a:buClr>
                <a:schemeClr val="accent4"/>
              </a:buClr>
              <a:buSzPct val="100000"/>
              <a:buFont typeface="Wingdings" charset="2"/>
              <a:buChar char="§"/>
              <a:defRPr sz="2500" b="0">
                <a:solidFill>
                  <a:schemeClr val="tx1"/>
                </a:solidFill>
                <a:latin typeface="Artifakt ElementOfc"/>
                <a:cs typeface="Artifakt ElementOfc"/>
              </a:defRPr>
            </a:lvl2pPr>
            <a:lvl3pPr marL="1279535" indent="-259102">
              <a:buClr>
                <a:schemeClr val="accent4"/>
              </a:buClr>
              <a:buSzPct val="100000"/>
              <a:buFont typeface="Wingdings" charset="2"/>
              <a:buChar char="§"/>
              <a:defRPr sz="2200" b="0">
                <a:solidFill>
                  <a:schemeClr val="tx1"/>
                </a:solidFill>
                <a:latin typeface="Artifakt ElementOfc"/>
                <a:cs typeface="Artifakt ElementOfc"/>
              </a:defRPr>
            </a:lvl3pPr>
            <a:lvl4pPr marL="1791350" indent="-230313">
              <a:buClr>
                <a:schemeClr val="accent4"/>
              </a:buClr>
              <a:buSzPct val="100000"/>
              <a:buFont typeface="Wingdings" charset="2"/>
              <a:buChar char="§"/>
              <a:defRPr sz="1900" b="0">
                <a:solidFill>
                  <a:schemeClr val="tx1"/>
                </a:solidFill>
                <a:latin typeface="Artifakt ElementOfc"/>
                <a:cs typeface="Artifakt ElementOfc"/>
              </a:defRPr>
            </a:lvl4pPr>
            <a:lvl5pPr marL="2303162" indent="-201524">
              <a:buClr>
                <a:schemeClr val="accent4"/>
              </a:buClr>
              <a:buSzPct val="100000"/>
              <a:buFont typeface="Wingdings" charset="2"/>
              <a:buChar char="§"/>
              <a:defRPr sz="1700" b="0">
                <a:solidFill>
                  <a:schemeClr val="tx1"/>
                </a:solidFill>
                <a:latin typeface="Artifakt ElementOfc"/>
                <a:cs typeface="Artifakt ElementOfc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800" b="1" i="0" baseline="0">
                <a:solidFill>
                  <a:schemeClr val="accent4"/>
                </a:solidFill>
                <a:latin typeface="Artifakt ElementOfc"/>
                <a:cs typeface="Artifakt ElementOfc"/>
              </a:defRPr>
            </a:lvl1pPr>
          </a:lstStyle>
          <a:p>
            <a:r>
              <a:rPr lang="en-US"/>
              <a:t>Headers use the </a:t>
            </a:r>
            <a:r>
              <a:rPr lang="en-US" err="1"/>
              <a:t>Artifakt</a:t>
            </a:r>
            <a:r>
              <a:rPr lang="en-US"/>
              <a:t> </a:t>
            </a:r>
            <a:r>
              <a:rPr lang="en-US" err="1"/>
              <a:t>ElementOfc</a:t>
            </a:r>
            <a:r>
              <a:rPr lang="en-US"/>
              <a:t> typeface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4852210"/>
            <a:ext cx="8229600" cy="23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8213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85750"/>
            <a:ext cx="8534400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23950"/>
            <a:ext cx="8534400" cy="3886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08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0" r:id="rId3"/>
    <p:sldLayoutId id="2147483671" r:id="rId4"/>
    <p:sldLayoutId id="2147483662" r:id="rId5"/>
    <p:sldLayoutId id="2147483664" r:id="rId6"/>
    <p:sldLayoutId id="2147483672" r:id="rId7"/>
    <p:sldLayoutId id="2147483666" r:id="rId8"/>
    <p:sldLayoutId id="2147483673" r:id="rId9"/>
    <p:sldLayoutId id="2147483674" r:id="rId10"/>
    <p:sldLayoutId id="2147483667" r:id="rId11"/>
    <p:sldLayoutId id="2147483675" r:id="rId12"/>
    <p:sldLayoutId id="2147483676" r:id="rId13"/>
    <p:sldLayoutId id="2147483677" r:id="rId14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0188" indent="-230188" algn="l" defTabSz="6858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6263" indent="-233363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62063" indent="-233363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8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57349"/>
            <a:ext cx="5531817" cy="1164227"/>
          </a:xfrm>
        </p:spPr>
        <p:txBody>
          <a:bodyPr/>
          <a:lstStyle/>
          <a:p>
            <a:r>
              <a:rPr lang="en-US" dirty="0"/>
              <a:t>Overall Conceptual Model - challenge with ‘Off Page Connectors’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57200" y="3437660"/>
            <a:ext cx="4114800" cy="304800"/>
          </a:xfrm>
        </p:spPr>
        <p:txBody>
          <a:bodyPr/>
          <a:lstStyle/>
          <a:p>
            <a:r>
              <a:rPr lang="en-US" dirty="0"/>
              <a:t>2025-11-20 V1 Tonia Pedersen/ Manfred </a:t>
            </a:r>
            <a:r>
              <a:rPr lang="en-US" dirty="0" err="1"/>
              <a:t>Theißen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951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0513C-6788-B285-18CF-2889B3C6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785C376-4320-A6DF-7942-92D6933FA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025" y="742950"/>
            <a:ext cx="8736725" cy="79878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DEXPI 2.0 – overall conceptual model</a:t>
            </a:r>
          </a:p>
          <a:p>
            <a:pPr lvl="1"/>
            <a:r>
              <a:rPr lang="en-US" sz="1400" dirty="0"/>
              <a:t>DEXPI 2.0 supports a single conceptual model for multiple drawings</a:t>
            </a:r>
          </a:p>
          <a:p>
            <a:pPr lvl="1"/>
            <a:r>
              <a:rPr lang="en-US" sz="1400" dirty="0"/>
              <a:t>‘Off Page Connectors’ as they are defined cannot be supported using this single model approach.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36A024-B71F-2A8A-FFA2-789D9D8EA9DB}"/>
              </a:ext>
            </a:extLst>
          </p:cNvPr>
          <p:cNvSpPr txBox="1">
            <a:spLocks/>
          </p:cNvSpPr>
          <p:nvPr/>
        </p:nvSpPr>
        <p:spPr>
          <a:xfrm>
            <a:off x="224374" y="4204985"/>
            <a:ext cx="5500766" cy="7242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6858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20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8DEEF7BC-075E-4AAA-EBCC-04776F9BE24B}"/>
              </a:ext>
            </a:extLst>
          </p:cNvPr>
          <p:cNvSpPr txBox="1">
            <a:spLocks/>
          </p:cNvSpPr>
          <p:nvPr/>
        </p:nvSpPr>
        <p:spPr>
          <a:xfrm>
            <a:off x="298024" y="1597299"/>
            <a:ext cx="8736725" cy="10560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6858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20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r>
              <a:rPr lang="en-US" dirty="0"/>
              <a:t>Gap: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‘Off Page Connectors’ are inherently linked to the drawing boundary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The Conceptual Model should not be bound by the drawing boundary</a:t>
            </a:r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D8501090-82ED-641D-A605-1AC7C3E3B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74" y="3221594"/>
            <a:ext cx="2663424" cy="14545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F2632B-F09B-6FC3-7479-9FBC84C883C9}"/>
              </a:ext>
            </a:extLst>
          </p:cNvPr>
          <p:cNvSpPr txBox="1"/>
          <p:nvPr/>
        </p:nvSpPr>
        <p:spPr>
          <a:xfrm>
            <a:off x="3016177" y="3594581"/>
            <a:ext cx="41178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2800" dirty="0">
                <a:solidFill>
                  <a:srgbClr val="FF0000"/>
                </a:solidFill>
              </a:rPr>
              <a:t>VS</a:t>
            </a:r>
          </a:p>
        </p:txBody>
      </p:sp>
      <p:pic>
        <p:nvPicPr>
          <p:cNvPr id="10" name="Picture 9" descr="A diagram of a process&#10;&#10;AI-generated content may be incorrect.">
            <a:extLst>
              <a:ext uri="{FF2B5EF4-FFF2-40B4-BE49-F238E27FC236}">
                <a16:creationId xmlns:a16="http://schemas.microsoft.com/office/drawing/2014/main" id="{39A68A7B-EFF9-ED53-FB7C-A5CF27DA0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199" y="3183076"/>
            <a:ext cx="2331076" cy="15986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238514-4544-7BAD-61A1-DED1139B54A1}"/>
              </a:ext>
            </a:extLst>
          </p:cNvPr>
          <p:cNvSpPr txBox="1"/>
          <p:nvPr/>
        </p:nvSpPr>
        <p:spPr>
          <a:xfrm>
            <a:off x="6207654" y="3645489"/>
            <a:ext cx="41178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2800" dirty="0">
                <a:solidFill>
                  <a:srgbClr val="FF0000"/>
                </a:solidFill>
              </a:rPr>
              <a:t>+</a:t>
            </a:r>
          </a:p>
        </p:txBody>
      </p:sp>
      <p:pic>
        <p:nvPicPr>
          <p:cNvPr id="13" name="Picture 12" descr="A diagram of a company&#10;&#10;AI-generated content may be incorrect.">
            <a:extLst>
              <a:ext uri="{FF2B5EF4-FFF2-40B4-BE49-F238E27FC236}">
                <a16:creationId xmlns:a16="http://schemas.microsoft.com/office/drawing/2014/main" id="{244A84A4-76A1-1EEA-EAFE-39E29D625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591" y="3233705"/>
            <a:ext cx="2212345" cy="153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4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AF3A93D3-9326-DEEF-453A-C525D2A9E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863" y="1047729"/>
            <a:ext cx="5813337" cy="381002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9C0513C-6788-B285-18CF-2889B3C6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Conceptual Model – 2 Drawings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785C376-4320-A6DF-7942-92D6933FA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42949"/>
            <a:ext cx="4709261" cy="867847"/>
          </a:xfrm>
        </p:spPr>
        <p:txBody>
          <a:bodyPr/>
          <a:lstStyle/>
          <a:p>
            <a:r>
              <a:rPr lang="en-US" dirty="0" err="1"/>
              <a:t>SignalConveying</a:t>
            </a:r>
            <a:r>
              <a:rPr lang="en-US" dirty="0"/>
              <a:t> Function</a:t>
            </a:r>
          </a:p>
          <a:p>
            <a:pPr lvl="1"/>
            <a:r>
              <a:rPr lang="en-US" dirty="0"/>
              <a:t>Source: ProcessInstrumentationFunction</a:t>
            </a:r>
          </a:p>
          <a:p>
            <a:pPr lvl="1"/>
            <a:r>
              <a:rPr lang="en-US" dirty="0"/>
              <a:t>Target: </a:t>
            </a:r>
            <a:r>
              <a:rPr lang="en-US" dirty="0" err="1"/>
              <a:t>ActuatingFunction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09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56479-90F7-DF98-6863-1E091A814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F989A-C489-A480-DAFF-B4D382E89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Drawings &amp; 2 Conceptual Models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0651FA07-C0A7-7D7C-FF87-14803654C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742949"/>
            <a:ext cx="8330527" cy="867847"/>
          </a:xfrm>
        </p:spPr>
        <p:txBody>
          <a:bodyPr/>
          <a:lstStyle/>
          <a:p>
            <a:r>
              <a:rPr lang="en-US" dirty="0" err="1"/>
              <a:t>SignalConveying</a:t>
            </a:r>
            <a:r>
              <a:rPr lang="en-US" dirty="0"/>
              <a:t> Function</a:t>
            </a:r>
          </a:p>
          <a:p>
            <a:pPr lvl="1"/>
            <a:r>
              <a:rPr lang="en-US" dirty="0"/>
              <a:t>Source: ProcessInstrumentationFunction / </a:t>
            </a:r>
            <a:r>
              <a:rPr lang="en-US" dirty="0" err="1"/>
              <a:t>FlowInSignalOffPageConnector</a:t>
            </a:r>
            <a:endParaRPr lang="en-US" dirty="0"/>
          </a:p>
          <a:p>
            <a:pPr lvl="1"/>
            <a:r>
              <a:rPr lang="en-US" dirty="0"/>
              <a:t>Target: </a:t>
            </a:r>
            <a:r>
              <a:rPr lang="en-US" dirty="0" err="1"/>
              <a:t>FlowOutSignalOffPageConnector</a:t>
            </a:r>
            <a:r>
              <a:rPr lang="en-US" dirty="0"/>
              <a:t> / </a:t>
            </a:r>
            <a:r>
              <a:rPr lang="en-US" dirty="0" err="1"/>
              <a:t>ActuatingFunction</a:t>
            </a:r>
            <a:endParaRPr lang="en-US" dirty="0"/>
          </a:p>
        </p:txBody>
      </p:sp>
      <p:pic>
        <p:nvPicPr>
          <p:cNvPr id="10" name="Picture 9" descr="A diagram of a company&#10;&#10;AI-generated content may be incorrect.">
            <a:extLst>
              <a:ext uri="{FF2B5EF4-FFF2-40B4-BE49-F238E27FC236}">
                <a16:creationId xmlns:a16="http://schemas.microsoft.com/office/drawing/2014/main" id="{F34DE18E-697E-0675-2AB0-FB5C2B5D6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33" y="1687607"/>
            <a:ext cx="4233466" cy="3128888"/>
          </a:xfrm>
          <a:prstGeom prst="rect">
            <a:avLst/>
          </a:prstGeom>
        </p:spPr>
      </p:pic>
      <p:pic>
        <p:nvPicPr>
          <p:cNvPr id="12" name="Picture 11" descr="A diagram of a company&#10;&#10;AI-generated content may be incorrect.">
            <a:extLst>
              <a:ext uri="{FF2B5EF4-FFF2-40B4-BE49-F238E27FC236}">
                <a16:creationId xmlns:a16="http://schemas.microsoft.com/office/drawing/2014/main" id="{620E0097-DCD7-BB01-A43C-192180D1F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752" y="1610796"/>
            <a:ext cx="4220449" cy="35327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73008A-50A1-48B5-2B8F-D492024B5B1A}"/>
              </a:ext>
            </a:extLst>
          </p:cNvPr>
          <p:cNvSpPr txBox="1"/>
          <p:nvPr/>
        </p:nvSpPr>
        <p:spPr>
          <a:xfrm>
            <a:off x="230114" y="1774299"/>
            <a:ext cx="1041568" cy="1454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050" u="sng" dirty="0">
                <a:solidFill>
                  <a:srgbClr val="FF0000"/>
                </a:solidFill>
              </a:rPr>
              <a:t>Drawing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16D6E4-38A0-3DEB-E8FC-F3059A96F33C}"/>
              </a:ext>
            </a:extLst>
          </p:cNvPr>
          <p:cNvSpPr txBox="1"/>
          <p:nvPr/>
        </p:nvSpPr>
        <p:spPr>
          <a:xfrm>
            <a:off x="4618752" y="1774299"/>
            <a:ext cx="1041568" cy="1454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050" u="sng" dirty="0">
                <a:solidFill>
                  <a:srgbClr val="FF0000"/>
                </a:solidFill>
              </a:rPr>
              <a:t>Drawing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E4F57F-4376-3F5C-469C-2DB4DD71D023}"/>
              </a:ext>
            </a:extLst>
          </p:cNvPr>
          <p:cNvSpPr/>
          <p:nvPr/>
        </p:nvSpPr>
        <p:spPr>
          <a:xfrm>
            <a:off x="532895" y="4075438"/>
            <a:ext cx="968901" cy="296726"/>
          </a:xfrm>
          <a:prstGeom prst="rect">
            <a:avLst/>
          </a:prstGeom>
          <a:solidFill>
            <a:srgbClr val="FFFF00">
              <a:alpha val="12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GB" sz="16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E79F93-B940-4701-7EC9-68E8622D2C92}"/>
              </a:ext>
            </a:extLst>
          </p:cNvPr>
          <p:cNvSpPr/>
          <p:nvPr/>
        </p:nvSpPr>
        <p:spPr>
          <a:xfrm>
            <a:off x="4992976" y="3793188"/>
            <a:ext cx="968901" cy="296726"/>
          </a:xfrm>
          <a:prstGeom prst="rect">
            <a:avLst/>
          </a:prstGeom>
          <a:solidFill>
            <a:srgbClr val="FFFF00">
              <a:alpha val="12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107642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BASF_CONVERTED_TO_TAGS" val="1"/>
</p:tagLst>
</file>

<file path=ppt/theme/theme1.xml><?xml version="1.0" encoding="utf-8"?>
<a:theme xmlns:a="http://schemas.openxmlformats.org/drawingml/2006/main" name="Office Theme">
  <a:themeElements>
    <a:clrScheme name="Custom 89">
      <a:dk1>
        <a:srgbClr val="3C3C3C"/>
      </a:dk1>
      <a:lt1>
        <a:srgbClr val="FFFFFF"/>
      </a:lt1>
      <a:dk2>
        <a:srgbClr val="0696D7"/>
      </a:dk2>
      <a:lt2>
        <a:srgbClr val="FFFFFF"/>
      </a:lt2>
      <a:accent1>
        <a:srgbClr val="0595D6"/>
      </a:accent1>
      <a:accent2>
        <a:srgbClr val="87BC40"/>
      </a:accent2>
      <a:accent3>
        <a:srgbClr val="32BCAD"/>
      </a:accent3>
      <a:accent4>
        <a:srgbClr val="1858A8"/>
      </a:accent4>
      <a:accent5>
        <a:srgbClr val="FAA21B"/>
      </a:accent5>
      <a:accent6>
        <a:srgbClr val="DD2222"/>
      </a:accent6>
      <a:hlink>
        <a:srgbClr val="0595D6"/>
      </a:hlink>
      <a:folHlink>
        <a:srgbClr val="666666"/>
      </a:folHlink>
    </a:clrScheme>
    <a:fontScheme name="Autodesk Artifakt 2018">
      <a:majorFont>
        <a:latin typeface="Artifakt LegendOfc"/>
        <a:ea typeface=""/>
        <a:cs typeface=""/>
      </a:majorFont>
      <a:minorFont>
        <a:latin typeface="Artifakt ElementOf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0000"/>
          </a:lnSpc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lnSpc>
            <a:spcPct val="90000"/>
          </a:lnSpc>
          <a:defRPr sz="1600"/>
        </a:defPPr>
      </a:lstStyle>
    </a:txDef>
  </a:objectDefaults>
  <a:extraClrSchemeLst/>
  <a:extLst>
    <a:ext uri="{05A4C25C-085E-4340-85A3-A5531E510DB2}">
      <thm15:themeFamily xmlns:thm15="http://schemas.microsoft.com/office/thememl/2012/main" name="DEXPI_Marketing_PPT_Template.pptx" id="{FB5682A9-E0A8-4386-AC74-429128522CC6}" vid="{E0819F48-55D2-4483-89D1-9B786FC3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DEXPI_Marketing_PPT_Template</Template>
  <TotalTime>1104</TotalTime>
  <Words>117</Words>
  <Application>Microsoft Office PowerPoint</Application>
  <PresentationFormat>On-screen Show (16:9)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Artifakt ElementOfc</vt:lpstr>
      <vt:lpstr>Artifakt LegendOfc</vt:lpstr>
      <vt:lpstr>Wingdings</vt:lpstr>
      <vt:lpstr>Office Theme</vt:lpstr>
      <vt:lpstr>Overall Conceptual Model - challenge with ‘Off Page Connectors’ </vt:lpstr>
      <vt:lpstr>Motivation</vt:lpstr>
      <vt:lpstr>Single Conceptual Model – 2 Drawings</vt:lpstr>
      <vt:lpstr>2 Drawings &amp; 2 Conceptual Models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Tonia Pedersen</dc:creator>
  <cp:lastModifiedBy>Tonia Pedersen</cp:lastModifiedBy>
  <cp:revision>14</cp:revision>
  <dcterms:created xsi:type="dcterms:W3CDTF">2020-12-01T11:28:56Z</dcterms:created>
  <dcterms:modified xsi:type="dcterms:W3CDTF">2025-11-25T12:48:16Z</dcterms:modified>
  <cp:contentStatus/>
</cp:coreProperties>
</file>