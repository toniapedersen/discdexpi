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78" r:id="rId2"/>
    <p:sldId id="383" r:id="rId3"/>
    <p:sldId id="385" r:id="rId4"/>
    <p:sldId id="386" r:id="rId5"/>
    <p:sldId id="387" r:id="rId6"/>
    <p:sldId id="388" r:id="rId7"/>
  </p:sldIdLst>
  <p:sldSz cx="9144000" cy="5143500" type="screen16x9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h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D1"/>
    <a:srgbClr val="DD2222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7" autoAdjust="0"/>
  </p:normalViewPr>
  <p:slideViewPr>
    <p:cSldViewPr snapToGrid="0">
      <p:cViewPr>
        <p:scale>
          <a:sx n="100" d="100"/>
          <a:sy n="100" d="100"/>
        </p:scale>
        <p:origin x="1812" y="7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  <a:cs typeface="Arial" charset="0"/>
              </a:defRPr>
            </a:lvl1pPr>
          </a:lstStyle>
          <a:p>
            <a:fld id="{4AA9FAFC-2319-504C-A7E6-C27BB7BBEBBC}" type="datetimeFigureOut">
              <a:rPr lang="mr-IN"/>
              <a:pPr/>
              <a:t>29-10-2025</a:t>
            </a:fld>
            <a:endParaRPr lang="mr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8E2C8280-5F62-3D48-BBB9-576BF0EE92F4}" type="slidenum">
              <a:rPr lang="uk-UA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8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9" name="Freeform 28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A: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52400" y="485775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sk-SK" sz="700">
                <a:solidFill>
                  <a:schemeClr val="bg2"/>
                </a:solidFill>
              </a:rPr>
              <a:t>© 2018 Autodesk, Inc.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C078B-CBDA-4DD0-868B-C6493C5777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4" y="4171950"/>
            <a:ext cx="3643208" cy="69189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019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A: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1780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Freeform 7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B: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A0EE0-C819-4AE9-9DD6-46B7A6F530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Freeform 4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B: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B9F50-3388-4284-9110-AE5FA6DEEB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5994400" cy="4572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3802F-247A-4B6E-9D50-074A7F584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1872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724400" y="1123950"/>
            <a:ext cx="4114800" cy="3657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857750"/>
            <a:ext cx="4114800" cy="152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Photo credit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251342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5143500"/>
          </a:xfrm>
        </p:spPr>
        <p:txBody>
          <a:bodyPr bIns="182880"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50FC1-F6A2-41E6-9100-344E497968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2400" y="4857750"/>
            <a:ext cx="6400800" cy="152400"/>
          </a:xfrm>
        </p:spPr>
        <p:txBody>
          <a:bodyPr anchor="b"/>
          <a:lstStyle>
            <a:lvl1pPr>
              <a:spcBef>
                <a:spcPts val="0"/>
              </a:spcBef>
              <a:defRPr lang="en-US" sz="900" b="0" i="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marL="0" lvl="0" indent="0">
              <a:spcBef>
                <a:spcPts val="750"/>
              </a:spcBef>
              <a:buFont typeface="Arial" panose="020B0604020202020204" pitchFamily="34" charset="0"/>
            </a:pPr>
            <a:r>
              <a:rPr lang="en-US"/>
              <a:t>Replace this copy with image credit when applicable.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80496-57B2-4609-AB33-458C6DDB5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8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3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27868-526A-4C6B-96A5-2F672AB9D3F4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72167-55E0-4849-BCAD-C2A1CF9D3B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36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169988"/>
            <a:ext cx="8229644" cy="3468705"/>
          </a:xfrm>
          <a:prstGeom prst="rect">
            <a:avLst/>
          </a:prstGeom>
        </p:spPr>
        <p:txBody>
          <a:bodyPr lIns="73140" tIns="0" rIns="0" bIns="0">
            <a:noAutofit/>
          </a:bodyPr>
          <a:lstStyle>
            <a:lvl1pPr marL="411362" indent="-411362">
              <a:buClr>
                <a:schemeClr val="accent4"/>
              </a:buClr>
              <a:buSzPct val="100000"/>
              <a:buFont typeface="Wingdings" charset="2"/>
              <a:buChar char="§"/>
              <a:defRPr sz="2800" b="0">
                <a:solidFill>
                  <a:schemeClr val="tx1"/>
                </a:solidFill>
                <a:latin typeface="Artifakt ElementOfc"/>
                <a:cs typeface="Artifakt ElementOfc"/>
              </a:defRPr>
            </a:lvl1pPr>
            <a:lvl2pPr marL="831698" indent="-287891">
              <a:buClr>
                <a:schemeClr val="accent4"/>
              </a:buClr>
              <a:buSzPct val="100000"/>
              <a:buFont typeface="Wingdings" charset="2"/>
              <a:buChar char="§"/>
              <a:defRPr sz="2500" b="0">
                <a:solidFill>
                  <a:schemeClr val="tx1"/>
                </a:solidFill>
                <a:latin typeface="Artifakt ElementOfc"/>
                <a:cs typeface="Artifakt ElementOfc"/>
              </a:defRPr>
            </a:lvl2pPr>
            <a:lvl3pPr marL="1279535" indent="-259102">
              <a:buClr>
                <a:schemeClr val="accent4"/>
              </a:buClr>
              <a:buSzPct val="100000"/>
              <a:buFont typeface="Wingdings" charset="2"/>
              <a:buChar char="§"/>
              <a:defRPr sz="2200" b="0">
                <a:solidFill>
                  <a:schemeClr val="tx1"/>
                </a:solidFill>
                <a:latin typeface="Artifakt ElementOfc"/>
                <a:cs typeface="Artifakt ElementOfc"/>
              </a:defRPr>
            </a:lvl3pPr>
            <a:lvl4pPr marL="1791350" indent="-230313">
              <a:buClr>
                <a:schemeClr val="accent4"/>
              </a:buClr>
              <a:buSzPct val="100000"/>
              <a:buFont typeface="Wingdings" charset="2"/>
              <a:buChar char="§"/>
              <a:defRPr sz="1900" b="0">
                <a:solidFill>
                  <a:schemeClr val="tx1"/>
                </a:solidFill>
                <a:latin typeface="Artifakt ElementOfc"/>
                <a:cs typeface="Artifakt ElementOfc"/>
              </a:defRPr>
            </a:lvl4pPr>
            <a:lvl5pPr marL="2303162" indent="-201524">
              <a:buClr>
                <a:schemeClr val="accent4"/>
              </a:buClr>
              <a:buSzPct val="100000"/>
              <a:buFont typeface="Wingdings" charset="2"/>
              <a:buChar char="§"/>
              <a:defRPr sz="1700" b="0">
                <a:solidFill>
                  <a:schemeClr val="tx1"/>
                </a:solidFill>
                <a:latin typeface="Artifakt ElementOfc"/>
                <a:cs typeface="Artifakt ElementOfc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 i="0" baseline="0">
                <a:solidFill>
                  <a:schemeClr val="accent4"/>
                </a:solidFill>
                <a:latin typeface="Artifakt ElementOfc"/>
                <a:cs typeface="Artifakt ElementOfc"/>
              </a:defRPr>
            </a:lvl1pPr>
          </a:lstStyle>
          <a:p>
            <a:r>
              <a:rPr lang="en-US"/>
              <a:t>Headers use the </a:t>
            </a:r>
            <a:r>
              <a:rPr lang="en-US" err="1"/>
              <a:t>Artifakt</a:t>
            </a:r>
            <a:r>
              <a:rPr lang="en-US"/>
              <a:t> </a:t>
            </a:r>
            <a:r>
              <a:rPr lang="en-US" err="1"/>
              <a:t>ElementOfc</a:t>
            </a:r>
            <a:r>
              <a:rPr lang="en-US"/>
              <a:t> typeface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852210"/>
            <a:ext cx="8229600" cy="2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821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8534400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534400" cy="3886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0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0" r:id="rId3"/>
    <p:sldLayoutId id="2147483671" r:id="rId4"/>
    <p:sldLayoutId id="2147483662" r:id="rId5"/>
    <p:sldLayoutId id="2147483664" r:id="rId6"/>
    <p:sldLayoutId id="2147483672" r:id="rId7"/>
    <p:sldLayoutId id="2147483666" r:id="rId8"/>
    <p:sldLayoutId id="2147483673" r:id="rId9"/>
    <p:sldLayoutId id="2147483674" r:id="rId10"/>
    <p:sldLayoutId id="2147483667" r:id="rId11"/>
    <p:sldLayoutId id="2147483675" r:id="rId12"/>
    <p:sldLayoutId id="2147483676" r:id="rId13"/>
    <p:sldLayoutId id="2147483677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6858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620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SVG/Reference/Attribute/stroke-dashoffset" TargetMode="External"/><Relationship Id="rId2" Type="http://schemas.openxmlformats.org/officeDocument/2006/relationships/hyperlink" Target="https://developer.mozilla.org/en-US/docs/Web/SVG/Reference/Attribute/stroke-dasharray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eveloper.mozilla.org/en-US/docs/Web/SVG/Reference/Attribute/stroke-lineca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57349"/>
            <a:ext cx="6400800" cy="426177"/>
          </a:xfrm>
        </p:spPr>
        <p:txBody>
          <a:bodyPr/>
          <a:lstStyle/>
          <a:p>
            <a:r>
              <a:rPr lang="en-US" dirty="0"/>
              <a:t>DEXPI Primitives – Stroke / </a:t>
            </a:r>
            <a:r>
              <a:rPr lang="en-US" dirty="0" err="1"/>
              <a:t>DashStyle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3437660"/>
            <a:ext cx="4114800" cy="304800"/>
          </a:xfrm>
        </p:spPr>
        <p:txBody>
          <a:bodyPr/>
          <a:lstStyle/>
          <a:p>
            <a:r>
              <a:rPr lang="en-US" dirty="0"/>
              <a:t>2025-10-29 V1 Tonia Pedersen/Manfred </a:t>
            </a:r>
            <a:r>
              <a:rPr lang="en-US" dirty="0" err="1"/>
              <a:t>Theißen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51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638" y="909548"/>
            <a:ext cx="4611124" cy="40266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DEXPI </a:t>
            </a:r>
            <a:r>
              <a:rPr lang="en-US" dirty="0" err="1"/>
              <a:t>LineStroke</a:t>
            </a:r>
            <a:r>
              <a:rPr lang="en-US" dirty="0"/>
              <a:t>: </a:t>
            </a:r>
          </a:p>
          <a:p>
            <a:pPr lvl="1"/>
            <a:r>
              <a:rPr lang="en-US" sz="1400" dirty="0"/>
              <a:t>Limited to basic dash/dot pattern enumeration list.</a:t>
            </a:r>
          </a:p>
          <a:p>
            <a:pPr marL="342900" lvl="1" indent="0">
              <a:buNone/>
            </a:pPr>
            <a:endParaRPr lang="en-US" sz="1400" dirty="0"/>
          </a:p>
          <a:p>
            <a:pPr marL="0" indent="-3175">
              <a:buNone/>
            </a:pPr>
            <a:r>
              <a:rPr lang="en-US" sz="1400" dirty="0"/>
              <a:t>Current DEXPI standard does not define how the given pattern types shall be graphical represented.</a:t>
            </a:r>
          </a:p>
          <a:p>
            <a:pPr marL="342900" lvl="1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Current DEXPI standards does not support model for more complex line styles used on P&amp;IDs; where a symbol(s) form part of the </a:t>
            </a:r>
            <a:r>
              <a:rPr lang="en-US" sz="1400" dirty="0" err="1"/>
              <a:t>linestyle</a:t>
            </a:r>
            <a:r>
              <a:rPr lang="en-US" sz="1400" dirty="0"/>
              <a:t>. 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5B80E6-1DE7-8E3C-AF11-63046B6C4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112" y="909548"/>
            <a:ext cx="3065096" cy="409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214D-1217-E333-284C-9828EFB4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950122-C8AE-45E1-A62C-738F7C14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B165048-BCA7-3070-B7C4-3EDD56F49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638" y="909548"/>
            <a:ext cx="4022133" cy="40266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New </a:t>
            </a:r>
            <a:r>
              <a:rPr lang="en-US" dirty="0" err="1"/>
              <a:t>LineStroke</a:t>
            </a:r>
            <a:r>
              <a:rPr lang="en-US" dirty="0"/>
              <a:t>/</a:t>
            </a:r>
            <a:r>
              <a:rPr lang="en-US" dirty="0" err="1"/>
              <a:t>DashStyle</a:t>
            </a:r>
            <a:r>
              <a:rPr lang="en-US" dirty="0"/>
              <a:t> required for complex line styles used on P&amp;IDs e.g.:</a:t>
            </a:r>
          </a:p>
          <a:p>
            <a:pPr>
              <a:buFontTx/>
              <a:buChar char="-"/>
            </a:pPr>
            <a:r>
              <a:rPr lang="en-US" dirty="0"/>
              <a:t>Electrical signal</a:t>
            </a:r>
          </a:p>
          <a:p>
            <a:pPr>
              <a:buFontTx/>
              <a:buChar char="-"/>
            </a:pPr>
            <a:r>
              <a:rPr lang="en-US" dirty="0"/>
              <a:t>Hydraulic signal</a:t>
            </a:r>
          </a:p>
          <a:p>
            <a:pPr>
              <a:buFontTx/>
              <a:buChar char="-"/>
            </a:pPr>
            <a:r>
              <a:rPr lang="en-US" dirty="0"/>
              <a:t>Bus signal</a:t>
            </a:r>
          </a:p>
          <a:p>
            <a:pPr>
              <a:buFontTx/>
              <a:buChar char="-"/>
            </a:pPr>
            <a:r>
              <a:rPr lang="en-US" dirty="0"/>
              <a:t>Capillary</a:t>
            </a:r>
          </a:p>
          <a:p>
            <a:pPr>
              <a:buFontTx/>
              <a:buChar char="-"/>
            </a:pPr>
            <a:r>
              <a:rPr lang="en-US" dirty="0"/>
              <a:t>….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A6435-5C06-C708-A687-596BADC3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453" y="941646"/>
            <a:ext cx="3952904" cy="396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14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80FAB1-FBC6-67F6-8A84-ECE62BA80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477" y="1233398"/>
            <a:ext cx="4902343" cy="3702776"/>
          </a:xfrm>
          <a:prstGeom prst="rect">
            <a:avLst/>
          </a:prstGeom>
        </p:spPr>
      </p:pic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637" y="909548"/>
            <a:ext cx="4640759" cy="40266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New Stroke (Line style) model: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Line Style model to include symbol as ‘markup’ overlay pattern</a:t>
            </a:r>
          </a:p>
          <a:p>
            <a:pPr lvl="1">
              <a:spcBef>
                <a:spcPts val="200"/>
              </a:spcBef>
            </a:pPr>
            <a:r>
              <a:rPr lang="en-US" sz="1400" dirty="0" err="1"/>
              <a:t>LineStroke</a:t>
            </a:r>
            <a:r>
              <a:rPr lang="en-US" sz="1400" dirty="0"/>
              <a:t>:</a:t>
            </a:r>
          </a:p>
          <a:p>
            <a:pPr lvl="2">
              <a:spcBef>
                <a:spcPts val="200"/>
              </a:spcBef>
            </a:pPr>
            <a:r>
              <a:rPr lang="en-US" sz="1400" dirty="0"/>
              <a:t>Width</a:t>
            </a:r>
          </a:p>
          <a:p>
            <a:pPr lvl="2">
              <a:spcBef>
                <a:spcPts val="200"/>
              </a:spcBef>
            </a:pPr>
            <a:r>
              <a:rPr lang="en-US" sz="1400" dirty="0"/>
              <a:t>Color</a:t>
            </a:r>
          </a:p>
          <a:p>
            <a:pPr lvl="2">
              <a:spcBef>
                <a:spcPts val="200"/>
              </a:spcBef>
            </a:pPr>
            <a:r>
              <a:rPr lang="en-US" sz="1400" dirty="0" err="1"/>
              <a:t>DashArray</a:t>
            </a:r>
            <a:endParaRPr lang="en-US" sz="1400" dirty="0"/>
          </a:p>
          <a:p>
            <a:pPr lvl="2">
              <a:spcBef>
                <a:spcPts val="200"/>
              </a:spcBef>
            </a:pPr>
            <a:r>
              <a:rPr lang="en-US" sz="1400" dirty="0"/>
              <a:t>Offset</a:t>
            </a:r>
          </a:p>
          <a:p>
            <a:pPr lvl="2">
              <a:spcBef>
                <a:spcPts val="200"/>
              </a:spcBef>
            </a:pPr>
            <a:r>
              <a:rPr lang="en-US" sz="1400" dirty="0" err="1"/>
              <a:t>LineRounding</a:t>
            </a:r>
            <a:r>
              <a:rPr lang="en-US" sz="1400" dirty="0"/>
              <a:t>: </a:t>
            </a:r>
            <a:r>
              <a:rPr lang="en-US" sz="1400" dirty="0" err="1"/>
              <a:t>Round|Butt</a:t>
            </a:r>
            <a:endParaRPr lang="en-US" sz="1400" dirty="0"/>
          </a:p>
          <a:p>
            <a:pPr lvl="2">
              <a:spcBef>
                <a:spcPts val="200"/>
              </a:spcBef>
            </a:pPr>
            <a:r>
              <a:rPr lang="en-US" sz="1400" dirty="0" err="1"/>
              <a:t>LateralOffset</a:t>
            </a:r>
            <a:endParaRPr lang="en-US" sz="1400" dirty="0"/>
          </a:p>
          <a:p>
            <a:pPr lvl="2">
              <a:spcBef>
                <a:spcPts val="200"/>
              </a:spcBef>
            </a:pPr>
            <a:endParaRPr lang="en-US" sz="1400" dirty="0"/>
          </a:p>
          <a:p>
            <a:pPr lvl="1">
              <a:spcBef>
                <a:spcPts val="200"/>
              </a:spcBef>
            </a:pPr>
            <a:r>
              <a:rPr lang="en-US" sz="1400" dirty="0" err="1"/>
              <a:t>SymbolStroke</a:t>
            </a:r>
            <a:r>
              <a:rPr lang="en-US" sz="1400" dirty="0"/>
              <a:t>:</a:t>
            </a:r>
          </a:p>
          <a:p>
            <a:pPr lvl="2">
              <a:spcBef>
                <a:spcPts val="200"/>
              </a:spcBef>
            </a:pPr>
            <a:r>
              <a:rPr lang="en-US" sz="1400" dirty="0"/>
              <a:t>Spacing</a:t>
            </a:r>
          </a:p>
          <a:p>
            <a:pPr lvl="2">
              <a:spcBef>
                <a:spcPts val="200"/>
              </a:spcBef>
            </a:pPr>
            <a:r>
              <a:rPr lang="en-US" sz="1400" dirty="0"/>
              <a:t>Offset</a:t>
            </a:r>
          </a:p>
          <a:p>
            <a:pPr lvl="2">
              <a:spcBef>
                <a:spcPts val="200"/>
              </a:spcBef>
            </a:pPr>
            <a:r>
              <a:rPr lang="en-US" sz="1400" dirty="0" err="1"/>
              <a:t>LateralOffset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0806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BF681-8C63-AB6E-ED40-5336240A6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3ECF15-4818-85ED-55BA-B88503A4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F6E9935A-3FDB-2135-28CC-6208E1288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637" y="909548"/>
            <a:ext cx="8736725" cy="40266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Special Definitions</a:t>
            </a:r>
            <a:endParaRPr lang="en-US" sz="1400" dirty="0"/>
          </a:p>
          <a:p>
            <a:pPr marL="342900" lvl="1" indent="0">
              <a:spcBef>
                <a:spcPts val="200"/>
              </a:spcBef>
              <a:buNone/>
            </a:pPr>
            <a:r>
              <a:rPr lang="en-US" sz="1400" dirty="0" err="1"/>
              <a:t>DashArray</a:t>
            </a:r>
            <a:r>
              <a:rPr lang="en-US" sz="1400" dirty="0"/>
              <a:t>: multi-dimensional array : length of dash, length of space (optional .. additional dash/space lengths)</a:t>
            </a:r>
          </a:p>
          <a:p>
            <a:pPr lvl="2">
              <a:spcBef>
                <a:spcPts val="200"/>
              </a:spcBef>
              <a:buFontTx/>
              <a:buChar char="-"/>
            </a:pPr>
            <a:r>
              <a:rPr lang="en-US" sz="1400" dirty="0"/>
              <a:t>start at dash</a:t>
            </a:r>
          </a:p>
          <a:p>
            <a:pPr lvl="2">
              <a:spcBef>
                <a:spcPts val="200"/>
              </a:spcBef>
              <a:buFontTx/>
              <a:buChar char="-"/>
            </a:pPr>
            <a:r>
              <a:rPr lang="en-US" sz="1400" dirty="0"/>
              <a:t>ref. </a:t>
            </a:r>
            <a:r>
              <a:rPr lang="en-GB" sz="1400" dirty="0">
                <a:hlinkClick r:id="rId2"/>
              </a:rPr>
              <a:t>stroke-</a:t>
            </a:r>
            <a:r>
              <a:rPr lang="en-GB" sz="1400" dirty="0" err="1">
                <a:hlinkClick r:id="rId2"/>
              </a:rPr>
              <a:t>dasharray</a:t>
            </a:r>
            <a:r>
              <a:rPr lang="en-GB" sz="1400" dirty="0">
                <a:hlinkClick r:id="rId2"/>
              </a:rPr>
              <a:t> - SVG | MDN</a:t>
            </a:r>
            <a:endParaRPr lang="en-GB" sz="1400" dirty="0"/>
          </a:p>
          <a:p>
            <a:pPr marL="685800" lvl="2" indent="0">
              <a:spcBef>
                <a:spcPts val="200"/>
              </a:spcBef>
              <a:buNone/>
            </a:pPr>
            <a:endParaRPr lang="en-US" sz="1400" dirty="0"/>
          </a:p>
          <a:p>
            <a:pPr marL="342900" lvl="1" indent="0">
              <a:spcBef>
                <a:spcPts val="200"/>
              </a:spcBef>
              <a:buNone/>
            </a:pPr>
            <a:r>
              <a:rPr lang="en-US" sz="1400" dirty="0"/>
              <a:t>Offset: </a:t>
            </a:r>
            <a:r>
              <a:rPr lang="en-GB" sz="1200" dirty="0"/>
              <a:t>offset on the rendering of the associated dash array</a:t>
            </a:r>
          </a:p>
          <a:p>
            <a:pPr lvl="2">
              <a:spcBef>
                <a:spcPts val="200"/>
              </a:spcBef>
              <a:buFontTx/>
              <a:buChar char="-"/>
            </a:pPr>
            <a:r>
              <a:rPr lang="en-US" sz="1400" dirty="0"/>
              <a:t>ref. </a:t>
            </a:r>
            <a:r>
              <a:rPr lang="en-GB" sz="1400" dirty="0">
                <a:hlinkClick r:id="rId3"/>
              </a:rPr>
              <a:t>stroke-</a:t>
            </a:r>
            <a:r>
              <a:rPr lang="en-GB" sz="1400" dirty="0" err="1">
                <a:hlinkClick r:id="rId3"/>
              </a:rPr>
              <a:t>dashoffset</a:t>
            </a:r>
            <a:r>
              <a:rPr lang="en-GB" sz="1400" dirty="0">
                <a:hlinkClick r:id="rId3"/>
              </a:rPr>
              <a:t> - SVG | MDN</a:t>
            </a:r>
            <a:endParaRPr lang="en-US" sz="1400" dirty="0"/>
          </a:p>
          <a:p>
            <a:pPr marL="342900" lvl="1" indent="0">
              <a:spcBef>
                <a:spcPts val="200"/>
              </a:spcBef>
              <a:buNone/>
            </a:pPr>
            <a:endParaRPr lang="en-US" sz="1400" dirty="0"/>
          </a:p>
          <a:p>
            <a:pPr lvl="1">
              <a:spcBef>
                <a:spcPts val="200"/>
              </a:spcBef>
            </a:pPr>
            <a:r>
              <a:rPr lang="en-US" sz="1400" dirty="0" err="1"/>
              <a:t>LineRounding</a:t>
            </a:r>
            <a:r>
              <a:rPr lang="en-US" sz="1400" dirty="0"/>
              <a:t>: </a:t>
            </a:r>
            <a:r>
              <a:rPr lang="en-GB" sz="1400" dirty="0"/>
              <a:t>defining the shape to be used at the end of open and corners of </a:t>
            </a:r>
            <a:r>
              <a:rPr lang="en-GB" sz="1400" dirty="0" err="1"/>
              <a:t>subpaths</a:t>
            </a:r>
            <a:r>
              <a:rPr lang="en-GB" sz="1400" dirty="0"/>
              <a:t> when they are stroked</a:t>
            </a:r>
            <a:endParaRPr lang="en-US" sz="1400" dirty="0"/>
          </a:p>
          <a:p>
            <a:pPr lvl="2">
              <a:spcBef>
                <a:spcPts val="200"/>
              </a:spcBef>
              <a:buFontTx/>
              <a:buChar char="-"/>
            </a:pPr>
            <a:r>
              <a:rPr lang="en-US" sz="1400" dirty="0"/>
              <a:t>Valid values: butt | round | square</a:t>
            </a:r>
          </a:p>
          <a:p>
            <a:pPr lvl="2">
              <a:spcBef>
                <a:spcPts val="200"/>
              </a:spcBef>
              <a:buFontTx/>
              <a:buChar char="-"/>
            </a:pPr>
            <a:r>
              <a:rPr lang="en-US" sz="1400" dirty="0"/>
              <a:t>ref. </a:t>
            </a:r>
            <a:r>
              <a:rPr lang="en-GB" sz="1400" dirty="0">
                <a:hlinkClick r:id="rId4"/>
              </a:rPr>
              <a:t>stroke-</a:t>
            </a:r>
            <a:r>
              <a:rPr lang="en-GB" sz="1400" dirty="0" err="1">
                <a:hlinkClick r:id="rId4"/>
              </a:rPr>
              <a:t>linecap</a:t>
            </a:r>
            <a:r>
              <a:rPr lang="en-GB" sz="1400" dirty="0">
                <a:hlinkClick r:id="rId4"/>
              </a:rPr>
              <a:t> - SVG | MDN</a:t>
            </a:r>
            <a:endParaRPr lang="en-GB" sz="1400" dirty="0"/>
          </a:p>
          <a:p>
            <a:pPr lvl="1">
              <a:spcBef>
                <a:spcPts val="200"/>
              </a:spcBef>
            </a:pPr>
            <a:endParaRPr lang="en-US" sz="1400" dirty="0"/>
          </a:p>
          <a:p>
            <a:pPr lvl="1">
              <a:spcBef>
                <a:spcPts val="200"/>
              </a:spcBef>
            </a:pPr>
            <a:r>
              <a:rPr lang="en-US" sz="1400" dirty="0" err="1"/>
              <a:t>LateralOffset</a:t>
            </a:r>
            <a:r>
              <a:rPr lang="en-US" sz="1400" dirty="0"/>
              <a:t>: relative lateral offset on rendering of the associated dash array</a:t>
            </a:r>
          </a:p>
          <a:p>
            <a:pPr lvl="1">
              <a:spcBef>
                <a:spcPts val="200"/>
              </a:spcBef>
            </a:pPr>
            <a:endParaRPr lang="en-US" sz="1400" dirty="0"/>
          </a:p>
          <a:p>
            <a:pPr lvl="1">
              <a:spcBef>
                <a:spcPts val="200"/>
              </a:spcBef>
            </a:pPr>
            <a:r>
              <a:rPr lang="en-US" sz="1400" dirty="0"/>
              <a:t>Symbol: relationship to defined symbol definition.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6841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669CD-1124-791D-D346-0DAF2EEF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15CC7C-F297-07F7-FC6E-57D8D920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B1956D-6D49-DA6D-1494-065CF7B82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4" y="1112235"/>
            <a:ext cx="4293476" cy="3242894"/>
          </a:xfrm>
          <a:prstGeom prst="rect">
            <a:avLst/>
          </a:prstGeom>
        </p:spPr>
      </p:pic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232BCDB1-4EE7-6A7B-0841-C2877BD5465D}"/>
              </a:ext>
            </a:extLst>
          </p:cNvPr>
          <p:cNvSpPr txBox="1">
            <a:spLocks/>
          </p:cNvSpPr>
          <p:nvPr/>
        </p:nvSpPr>
        <p:spPr>
          <a:xfrm>
            <a:off x="5028271" y="1477652"/>
            <a:ext cx="3096554" cy="2654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Symbol overlay example: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FD344D1-0931-05D9-3F36-F12B450C1B87}"/>
              </a:ext>
            </a:extLst>
          </p:cNvPr>
          <p:cNvSpPr/>
          <p:nvPr/>
        </p:nvSpPr>
        <p:spPr>
          <a:xfrm>
            <a:off x="4912164" y="1362075"/>
            <a:ext cx="4022286" cy="299305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6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A20C99-9693-07C2-275C-9CF3BC1C8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800" y="4004908"/>
            <a:ext cx="241294" cy="2654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FA7536-CA15-F131-BFF6-EF858B20D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700" y="2806600"/>
            <a:ext cx="3431214" cy="3862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6B91-B279-3A34-12F0-02310D4EA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688" y="3496538"/>
            <a:ext cx="3631238" cy="3129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CD814C1-F0F7-B72A-DCA3-D4C4E3FF4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4238" y="2022784"/>
            <a:ext cx="3631238" cy="352811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7DA4058-119E-7ACB-8B9B-493A9091074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486275" y="3962400"/>
            <a:ext cx="678525" cy="175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10D895-FBC3-F4A5-2C27-291F86F04AD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529175" y="2922092"/>
            <a:ext cx="678525" cy="776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1F9D6CB-2D46-4917-9366-966CE4F0BCFA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302000" y="2994047"/>
            <a:ext cx="1805688" cy="658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74DDDE-1E8D-5CA3-14AF-CA0CA014C97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190625" y="2022784"/>
            <a:ext cx="4043613" cy="1764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91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BASF_CONVERTED_TO_TAGS" val="1"/>
</p:tagLst>
</file>

<file path=ppt/theme/theme1.xml><?xml version="1.0" encoding="utf-8"?>
<a:theme xmlns:a="http://schemas.openxmlformats.org/drawingml/2006/main" name="Office Theme">
  <a:themeElements>
    <a:clrScheme name="Custom 89">
      <a:dk1>
        <a:srgbClr val="3C3C3C"/>
      </a:dk1>
      <a:lt1>
        <a:srgbClr val="FFFFFF"/>
      </a:lt1>
      <a:dk2>
        <a:srgbClr val="0696D7"/>
      </a:dk2>
      <a:lt2>
        <a:srgbClr val="FFFFFF"/>
      </a:lt2>
      <a:accent1>
        <a:srgbClr val="0595D6"/>
      </a:accent1>
      <a:accent2>
        <a:srgbClr val="87BC40"/>
      </a:accent2>
      <a:accent3>
        <a:srgbClr val="32BCAD"/>
      </a:accent3>
      <a:accent4>
        <a:srgbClr val="1858A8"/>
      </a:accent4>
      <a:accent5>
        <a:srgbClr val="FAA21B"/>
      </a:accent5>
      <a:accent6>
        <a:srgbClr val="DD2222"/>
      </a:accent6>
      <a:hlink>
        <a:srgbClr val="0595D6"/>
      </a:hlink>
      <a:folHlink>
        <a:srgbClr val="666666"/>
      </a:folHlink>
    </a:clrScheme>
    <a:fontScheme name="Autodesk Artifakt 2018">
      <a:majorFont>
        <a:latin typeface="Artifakt LegendOfc"/>
        <a:ea typeface=""/>
        <a:cs typeface=""/>
      </a:majorFont>
      <a:minorFont>
        <a:latin typeface="Artifakt ElementOf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DEXPI_Marketing_PPT_Template.pptx" id="{FB5682A9-E0A8-4386-AC74-429128522CC6}" vid="{E0819F48-55D2-4483-89D1-9B786FC3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DEXPI_Marketing_PPT_Template</Template>
  <TotalTime>2034</TotalTime>
  <Words>252</Words>
  <Application>Microsoft Office PowerPoint</Application>
  <PresentationFormat>On-screen Show (16:9)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Artifakt ElementOfc</vt:lpstr>
      <vt:lpstr>Artifakt LegendOfc</vt:lpstr>
      <vt:lpstr>Wingdings</vt:lpstr>
      <vt:lpstr>Office Theme</vt:lpstr>
      <vt:lpstr>DEXPI Primitives – Stroke / DashStyle</vt:lpstr>
      <vt:lpstr>Motivation</vt:lpstr>
      <vt:lpstr>Motivation</vt:lpstr>
      <vt:lpstr>Proposal</vt:lpstr>
      <vt:lpstr>Proposal</vt:lpstr>
      <vt:lpstr>Example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Tonia Pedersen</dc:creator>
  <cp:lastModifiedBy>Tonia Pedersen</cp:lastModifiedBy>
  <cp:revision>14</cp:revision>
  <dcterms:created xsi:type="dcterms:W3CDTF">2020-12-01T11:28:56Z</dcterms:created>
  <dcterms:modified xsi:type="dcterms:W3CDTF">2025-10-30T05:03:16Z</dcterms:modified>
  <cp:contentStatus/>
</cp:coreProperties>
</file>